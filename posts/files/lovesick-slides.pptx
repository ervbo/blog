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Set the tone: this is not a rules study but a love story that spans the entire Bible. Introduce the core sentence: the Bible's main message is a lovesick Father desperately looking for His children to bring them back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roadmap: Eden, the Fall, the Promise, Tabernacle/Temple, Immanuel, New Jerusalem, and the closing verse. Emphasize that seeing the whole arc changes how we read Scripture.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image of God as a distant, stern judge. In the beginning we see a Father walking with His kids. Everything else in the study is God trying to get back to this closeness.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tragic turn already present in this verse: the same God who walked with them is now the one they hide from. That hiding is the beginning of the distance the rest of Scripture works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God's tenderness even in judgment: He makes garments of skin for Adam and Eve. The barrier is real, but the Father's care doesn't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while pronouncing judgment on the serpent, God is already promising a rescuer. This is the first gospel promise in the Bible — the Father already planning the way home before Adam and Eve even leave the garden.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Genesis 17:7 as the seed of the covenant refrain that echoes through Exodus, the prophets, and ultimately Revelation. God initiates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major shift from Eden's open access, but it shows the trajectory of God drawing near again, step by step, era by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give the congregation the big-picture shape of the whole sermon so far: every era is another step in God's relentless pursuit of nearness.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incarnation as the dramatic centerpiece of God's pursuit — no longer behind a veil, but walking among us in ordinary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veil that separated humanity from the Holy of Holies is torn — from top to bottom, meaning God tore it, not man. The way is now open. This is the turning point of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congregation from the cross to the final restoration. The barrier is gone; now we look forward to what full restoration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circle moment — Eden's intimacy restored and expanded into eternity. God's plan from the very beginning was always to be near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beautiful bookend: Genesis begins with a tree in a garden and access lost; Revelation ends with a tree and access fully restored, bringing healing.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side-by-side to crystallize the whole sermon's arc for the congregation — what was lost has been fully regained, and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verse summarizes the entire sweep of Scripture — from Eden to the New Jerusalem — as one long rescue mission driven by love.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listeners to move from hearing the story to living it out this week — personally and in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warmth and invitation, not guilt. This is a love story, and the sermon closes by inviting people to respond to a Father who has already made every provision to welcome them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0000"/>
            </a:srgbClr>
          </a:solidFill>
          <a:ln/>
        </p:spPr>
      </p:sp>
      <p:sp>
        <p:nvSpPr>
          <p:cNvPr id="4" name="Text 1"/>
          <p:cNvSpPr/>
          <p:nvPr/>
        </p:nvSpPr>
        <p:spPr>
          <a:xfrm>
            <a:off x="457200" y="2931795"/>
            <a:ext cx="8229600" cy="1028700"/>
          </a:xfrm>
          <a:prstGeom prst="rect">
            <a:avLst/>
          </a:prstGeom>
          <a:noFill/>
          <a:ln/>
        </p:spPr>
        <p:txBody>
          <a:bodyPr wrap="square" rtlCol="0" anchor="b"/>
          <a:lstStyle/>
          <a:p>
            <a:pPr algn="l" indent="0" marL="0">
              <a:buNone/>
            </a:pPr>
            <a:r>
              <a:rPr lang="en-US" sz="4000" b="1" dirty="0">
                <a:solidFill>
                  <a:srgbClr val="FFFFFF"/>
                </a:solidFill>
                <a:latin typeface="Poppins" pitchFamily="34" charset="0"/>
                <a:ea typeface="Poppins" pitchFamily="34" charset="-122"/>
                <a:cs typeface="Poppins" pitchFamily="34" charset="-120"/>
              </a:rPr>
              <a:t>Lovesick: The Father Who Never Stopped Chasing You</a:t>
            </a:r>
            <a:endParaRPr lang="en-US" sz="4000" dirty="0"/>
          </a:p>
        </p:txBody>
      </p:sp>
      <p:sp>
        <p:nvSpPr>
          <p:cNvPr id="5" name="Text 2"/>
          <p:cNvSpPr/>
          <p:nvPr/>
        </p:nvSpPr>
        <p:spPr>
          <a:xfrm>
            <a:off x="457200" y="4011930"/>
            <a:ext cx="8229600" cy="411480"/>
          </a:xfrm>
          <a:prstGeom prst="rect">
            <a:avLst/>
          </a:prstGeom>
          <a:noFill/>
          <a:ln/>
        </p:spPr>
        <p:txBody>
          <a:bodyPr wrap="square" rtlCol="0" anchor="t"/>
          <a:lstStyle/>
          <a:p>
            <a:pPr algn="l" indent="0" marL="0">
              <a:buNone/>
            </a:pPr>
            <a:r>
              <a:rPr lang="en-US" sz="1800" dirty="0">
                <a:solidFill>
                  <a:srgbClr val="FFFFFF">
                    <a:alpha val="90000"/>
                  </a:srgbClr>
                </a:solidFill>
                <a:latin typeface="NotoSans" pitchFamily="34" charset="0"/>
                <a:ea typeface="NotoSans" pitchFamily="34" charset="-122"/>
                <a:cs typeface="NotoSans" pitchFamily="34" charset="-120"/>
              </a:rPr>
              <a:t>A Bible Study with Ervbo — Home Church</a:t>
            </a:r>
            <a:endParaRPr lang="en-US" sz="1800" dirty="0"/>
          </a:p>
        </p:txBody>
      </p:sp>
      <p:sp>
        <p:nvSpPr>
          <p:cNvPr id="6" name="Text 3"/>
          <p:cNvSpPr/>
          <p:nvPr/>
        </p:nvSpPr>
        <p:spPr>
          <a:xfrm>
            <a:off x="457200" y="4526280"/>
            <a:ext cx="8229600" cy="308610"/>
          </a:xfrm>
          <a:prstGeom prst="rect">
            <a:avLst/>
          </a:prstGeom>
          <a:noFill/>
          <a:ln/>
        </p:spPr>
        <p:txBody>
          <a:bodyPr wrap="square" rtlCol="0" anchor="t"/>
          <a:lstStyle/>
          <a:p>
            <a:pPr algn="l" indent="0" marL="0">
              <a:buNone/>
            </a:pPr>
            <a:r>
              <a:rPr lang="en-US" sz="1400" dirty="0">
                <a:solidFill>
                  <a:srgbClr val="FFFFFF">
                    <a:alpha val="80000"/>
                  </a:srgbClr>
                </a:solidFill>
                <a:latin typeface="NotoSans" pitchFamily="34" charset="0"/>
                <a:ea typeface="NotoSans" pitchFamily="34" charset="-122"/>
                <a:cs typeface="NotoSans" pitchFamily="34" charset="-120"/>
              </a:rPr>
              <a:t>Ervbo  •  Bible Study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AF5FF"/>
          </a:solidFill>
          <a:ln/>
        </p:spPr>
      </p:sp>
      <p:sp>
        <p:nvSpPr>
          <p:cNvPr id="3" name="Shape 1"/>
          <p:cNvSpPr/>
          <p:nvPr/>
        </p:nvSpPr>
        <p:spPr>
          <a:xfrm>
            <a:off x="0" y="257175"/>
            <a:ext cx="9144000" cy="266319"/>
          </a:xfrm>
          <a:prstGeom prst="rect">
            <a:avLst/>
          </a:prstGeom>
          <a:solidFill>
            <a:srgbClr val="FAF5FF"/>
          </a:solidFill>
          <a:ln/>
        </p:spPr>
      </p:sp>
      <p:sp>
        <p:nvSpPr>
          <p:cNvPr id="4" name="Shape 2"/>
          <p:cNvSpPr/>
          <p:nvPr/>
        </p:nvSpPr>
        <p:spPr>
          <a:xfrm>
            <a:off x="0" y="514350"/>
            <a:ext cx="9144000" cy="266319"/>
          </a:xfrm>
          <a:prstGeom prst="rect">
            <a:avLst/>
          </a:prstGeom>
          <a:solidFill>
            <a:srgbClr val="F9F5FF"/>
          </a:solidFill>
          <a:ln/>
        </p:spPr>
      </p:sp>
      <p:sp>
        <p:nvSpPr>
          <p:cNvPr id="5" name="Shape 3"/>
          <p:cNvSpPr/>
          <p:nvPr/>
        </p:nvSpPr>
        <p:spPr>
          <a:xfrm>
            <a:off x="0" y="771525"/>
            <a:ext cx="9144000" cy="266319"/>
          </a:xfrm>
          <a:prstGeom prst="rect">
            <a:avLst/>
          </a:prstGeom>
          <a:solidFill>
            <a:srgbClr val="F9F5FF"/>
          </a:solidFill>
          <a:ln/>
        </p:spPr>
      </p:sp>
      <p:sp>
        <p:nvSpPr>
          <p:cNvPr id="6" name="Shape 4"/>
          <p:cNvSpPr/>
          <p:nvPr/>
        </p:nvSpPr>
        <p:spPr>
          <a:xfrm>
            <a:off x="0" y="1028700"/>
            <a:ext cx="9144000" cy="266319"/>
          </a:xfrm>
          <a:prstGeom prst="rect">
            <a:avLst/>
          </a:prstGeom>
          <a:solidFill>
            <a:srgbClr val="F9F5FF"/>
          </a:solidFill>
          <a:ln/>
        </p:spPr>
      </p:sp>
      <p:sp>
        <p:nvSpPr>
          <p:cNvPr id="7" name="Shape 5"/>
          <p:cNvSpPr/>
          <p:nvPr/>
        </p:nvSpPr>
        <p:spPr>
          <a:xfrm>
            <a:off x="0" y="1285875"/>
            <a:ext cx="9144000" cy="266319"/>
          </a:xfrm>
          <a:prstGeom prst="rect">
            <a:avLst/>
          </a:prstGeom>
          <a:solidFill>
            <a:srgbClr val="F9F4FF"/>
          </a:solidFill>
          <a:ln/>
        </p:spPr>
      </p:sp>
      <p:sp>
        <p:nvSpPr>
          <p:cNvPr id="8" name="Shape 6"/>
          <p:cNvSpPr/>
          <p:nvPr/>
        </p:nvSpPr>
        <p:spPr>
          <a:xfrm>
            <a:off x="0" y="1543050"/>
            <a:ext cx="9144000" cy="266319"/>
          </a:xfrm>
          <a:prstGeom prst="rect">
            <a:avLst/>
          </a:prstGeom>
          <a:solidFill>
            <a:srgbClr val="F8F4FF"/>
          </a:solidFill>
          <a:ln/>
        </p:spPr>
      </p:sp>
      <p:sp>
        <p:nvSpPr>
          <p:cNvPr id="9" name="Shape 7"/>
          <p:cNvSpPr/>
          <p:nvPr/>
        </p:nvSpPr>
        <p:spPr>
          <a:xfrm>
            <a:off x="0" y="1800225"/>
            <a:ext cx="9144000" cy="266319"/>
          </a:xfrm>
          <a:prstGeom prst="rect">
            <a:avLst/>
          </a:prstGeom>
          <a:solidFill>
            <a:srgbClr val="F8F4FF"/>
          </a:solidFill>
          <a:ln/>
        </p:spPr>
      </p:sp>
      <p:sp>
        <p:nvSpPr>
          <p:cNvPr id="10" name="Shape 8"/>
          <p:cNvSpPr/>
          <p:nvPr/>
        </p:nvSpPr>
        <p:spPr>
          <a:xfrm>
            <a:off x="0" y="2057400"/>
            <a:ext cx="9144000" cy="266319"/>
          </a:xfrm>
          <a:prstGeom prst="rect">
            <a:avLst/>
          </a:prstGeom>
          <a:solidFill>
            <a:srgbClr val="F8F4FF"/>
          </a:solidFill>
          <a:ln/>
        </p:spPr>
      </p:sp>
      <p:sp>
        <p:nvSpPr>
          <p:cNvPr id="11" name="Shape 9"/>
          <p:cNvSpPr/>
          <p:nvPr/>
        </p:nvSpPr>
        <p:spPr>
          <a:xfrm>
            <a:off x="0" y="2314575"/>
            <a:ext cx="9144000" cy="266319"/>
          </a:xfrm>
          <a:prstGeom prst="rect">
            <a:avLst/>
          </a:prstGeom>
          <a:solidFill>
            <a:srgbClr val="F8F4FF"/>
          </a:solidFill>
          <a:ln/>
        </p:spPr>
      </p:sp>
      <p:sp>
        <p:nvSpPr>
          <p:cNvPr id="12" name="Shape 10"/>
          <p:cNvSpPr/>
          <p:nvPr/>
        </p:nvSpPr>
        <p:spPr>
          <a:xfrm>
            <a:off x="0" y="2571750"/>
            <a:ext cx="9144000" cy="266319"/>
          </a:xfrm>
          <a:prstGeom prst="rect">
            <a:avLst/>
          </a:prstGeom>
          <a:solidFill>
            <a:srgbClr val="F7F4FF"/>
          </a:solidFill>
          <a:ln/>
        </p:spPr>
      </p:sp>
      <p:sp>
        <p:nvSpPr>
          <p:cNvPr id="13" name="Shape 11"/>
          <p:cNvSpPr/>
          <p:nvPr/>
        </p:nvSpPr>
        <p:spPr>
          <a:xfrm>
            <a:off x="0" y="2828925"/>
            <a:ext cx="9144000" cy="266319"/>
          </a:xfrm>
          <a:prstGeom prst="rect">
            <a:avLst/>
          </a:prstGeom>
          <a:solidFill>
            <a:srgbClr val="F7F4FF"/>
          </a:solidFill>
          <a:ln/>
        </p:spPr>
      </p:sp>
      <p:sp>
        <p:nvSpPr>
          <p:cNvPr id="14" name="Shape 12"/>
          <p:cNvSpPr/>
          <p:nvPr/>
        </p:nvSpPr>
        <p:spPr>
          <a:xfrm>
            <a:off x="0" y="3086100"/>
            <a:ext cx="9144000" cy="266319"/>
          </a:xfrm>
          <a:prstGeom prst="rect">
            <a:avLst/>
          </a:prstGeom>
          <a:solidFill>
            <a:srgbClr val="F7F4FF"/>
          </a:solidFill>
          <a:ln/>
        </p:spPr>
      </p:sp>
      <p:sp>
        <p:nvSpPr>
          <p:cNvPr id="15" name="Shape 13"/>
          <p:cNvSpPr/>
          <p:nvPr/>
        </p:nvSpPr>
        <p:spPr>
          <a:xfrm>
            <a:off x="0" y="3343275"/>
            <a:ext cx="9144000" cy="266319"/>
          </a:xfrm>
          <a:prstGeom prst="rect">
            <a:avLst/>
          </a:prstGeom>
          <a:solidFill>
            <a:srgbClr val="F7F4FF"/>
          </a:solidFill>
          <a:ln/>
        </p:spPr>
      </p:sp>
      <p:sp>
        <p:nvSpPr>
          <p:cNvPr id="16" name="Shape 14"/>
          <p:cNvSpPr/>
          <p:nvPr/>
        </p:nvSpPr>
        <p:spPr>
          <a:xfrm>
            <a:off x="0" y="3600450"/>
            <a:ext cx="9144000" cy="266319"/>
          </a:xfrm>
          <a:prstGeom prst="rect">
            <a:avLst/>
          </a:prstGeom>
          <a:solidFill>
            <a:srgbClr val="F6F4FF"/>
          </a:solidFill>
          <a:ln/>
        </p:spPr>
      </p:sp>
      <p:sp>
        <p:nvSpPr>
          <p:cNvPr id="17" name="Shape 15"/>
          <p:cNvSpPr/>
          <p:nvPr/>
        </p:nvSpPr>
        <p:spPr>
          <a:xfrm>
            <a:off x="0" y="3857625"/>
            <a:ext cx="9144000" cy="266319"/>
          </a:xfrm>
          <a:prstGeom prst="rect">
            <a:avLst/>
          </a:prstGeom>
          <a:solidFill>
            <a:srgbClr val="F6F3FF"/>
          </a:solidFill>
          <a:ln/>
        </p:spPr>
      </p:sp>
      <p:sp>
        <p:nvSpPr>
          <p:cNvPr id="18" name="Shape 16"/>
          <p:cNvSpPr/>
          <p:nvPr/>
        </p:nvSpPr>
        <p:spPr>
          <a:xfrm>
            <a:off x="0" y="4114800"/>
            <a:ext cx="9144000" cy="266319"/>
          </a:xfrm>
          <a:prstGeom prst="rect">
            <a:avLst/>
          </a:prstGeom>
          <a:solidFill>
            <a:srgbClr val="F6F3FF"/>
          </a:solidFill>
          <a:ln/>
        </p:spPr>
      </p:sp>
      <p:sp>
        <p:nvSpPr>
          <p:cNvPr id="19" name="Shape 17"/>
          <p:cNvSpPr/>
          <p:nvPr/>
        </p:nvSpPr>
        <p:spPr>
          <a:xfrm>
            <a:off x="0" y="4371975"/>
            <a:ext cx="9144000" cy="266319"/>
          </a:xfrm>
          <a:prstGeom prst="rect">
            <a:avLst/>
          </a:prstGeom>
          <a:solidFill>
            <a:srgbClr val="F6F3FF"/>
          </a:solidFill>
          <a:ln/>
        </p:spPr>
      </p:sp>
      <p:sp>
        <p:nvSpPr>
          <p:cNvPr id="20" name="Shape 18"/>
          <p:cNvSpPr/>
          <p:nvPr/>
        </p:nvSpPr>
        <p:spPr>
          <a:xfrm>
            <a:off x="0" y="4629150"/>
            <a:ext cx="9144000" cy="266319"/>
          </a:xfrm>
          <a:prstGeom prst="rect">
            <a:avLst/>
          </a:prstGeom>
          <a:solidFill>
            <a:srgbClr val="F5F3FF"/>
          </a:solidFill>
          <a:ln/>
        </p:spPr>
      </p:sp>
      <p:sp>
        <p:nvSpPr>
          <p:cNvPr id="21" name="Shape 19"/>
          <p:cNvSpPr/>
          <p:nvPr/>
        </p:nvSpPr>
        <p:spPr>
          <a:xfrm>
            <a:off x="0" y="4886325"/>
            <a:ext cx="9144000" cy="266319"/>
          </a:xfrm>
          <a:prstGeom prst="rect">
            <a:avLst/>
          </a:prstGeom>
          <a:solidFill>
            <a:srgbClr val="F5F3FF"/>
          </a:solidFill>
          <a:ln/>
        </p:spPr>
      </p:sp>
      <p:sp>
        <p:nvSpPr>
          <p:cNvPr id="22" name="Shape 20"/>
          <p:cNvSpPr/>
          <p:nvPr/>
        </p:nvSpPr>
        <p:spPr>
          <a:xfrm>
            <a:off x="0" y="0"/>
            <a:ext cx="182880" cy="5143500"/>
          </a:xfrm>
          <a:prstGeom prst="rect">
            <a:avLst/>
          </a:prstGeom>
          <a:solidFill>
            <a:srgbClr val="581C87"/>
          </a:solidFill>
          <a:ln/>
        </p:spPr>
      </p:sp>
      <p:sp>
        <p:nvSpPr>
          <p:cNvPr id="23" name="Shape 21"/>
          <p:cNvSpPr/>
          <p:nvPr/>
        </p:nvSpPr>
        <p:spPr>
          <a:xfrm>
            <a:off x="0" y="0"/>
            <a:ext cx="9144000" cy="92583"/>
          </a:xfrm>
          <a:prstGeom prst="rect">
            <a:avLst/>
          </a:prstGeom>
          <a:solidFill>
            <a:srgbClr val="FBBF24"/>
          </a:solidFill>
          <a:ln/>
        </p:spPr>
      </p:sp>
      <p:sp>
        <p:nvSpPr>
          <p:cNvPr id="24" name="Text 22"/>
          <p:cNvSpPr/>
          <p:nvPr/>
        </p:nvSpPr>
        <p:spPr>
          <a:xfrm>
            <a:off x="457200" y="1028700"/>
            <a:ext cx="8229600" cy="1028700"/>
          </a:xfrm>
          <a:prstGeom prst="rect">
            <a:avLst/>
          </a:prstGeom>
          <a:noFill/>
          <a:ln/>
        </p:spPr>
        <p:txBody>
          <a:bodyPr wrap="square" rtlCol="0" anchor="ctr"/>
          <a:lstStyle/>
          <a:p>
            <a:pPr algn="ctr" indent="0" marL="0">
              <a:buNone/>
            </a:pPr>
            <a:r>
              <a:rPr lang="en-US" sz="4500" b="1" dirty="0">
                <a:solidFill>
                  <a:srgbClr val="581C87"/>
                </a:solidFill>
                <a:latin typeface="Poppins" pitchFamily="34" charset="0"/>
                <a:ea typeface="Poppins" pitchFamily="34" charset="-122"/>
                <a:cs typeface="Poppins" pitchFamily="34" charset="-120"/>
              </a:rPr>
              <a:t>Lovesick</a:t>
            </a:r>
            <a:endParaRPr lang="en-US" sz="4500" dirty="0"/>
          </a:p>
        </p:txBody>
      </p:sp>
      <p:sp>
        <p:nvSpPr>
          <p:cNvPr id="25" name="Shape 23"/>
          <p:cNvSpPr/>
          <p:nvPr/>
        </p:nvSpPr>
        <p:spPr>
          <a:xfrm>
            <a:off x="3200400" y="2211705"/>
            <a:ext cx="2743200" cy="61722"/>
          </a:xfrm>
          <a:prstGeom prst="rect">
            <a:avLst/>
          </a:prstGeom>
          <a:solidFill>
            <a:srgbClr val="FBBF24"/>
          </a:solidFill>
          <a:ln/>
        </p:spPr>
      </p:sp>
      <p:sp>
        <p:nvSpPr>
          <p:cNvPr id="26" name="Text 24"/>
          <p:cNvSpPr/>
          <p:nvPr/>
        </p:nvSpPr>
        <p:spPr>
          <a:xfrm>
            <a:off x="914400" y="2571750"/>
            <a:ext cx="7315200" cy="2057400"/>
          </a:xfrm>
          <a:prstGeom prst="rect">
            <a:avLst/>
          </a:prstGeom>
          <a:noFill/>
          <a:ln/>
        </p:spPr>
        <p:txBody>
          <a:bodyPr wrap="square" rtlCol="0" anchor="t"/>
          <a:lstStyle/>
          <a:p>
            <a:pPr algn="ctr" indent="0" marL="0">
              <a:lnSpc>
                <a:spcPts val="2700"/>
              </a:lnSpc>
              <a:buNone/>
            </a:pPr>
            <a:r>
              <a:rPr lang="en-US" sz="1800" dirty="0">
                <a:solidFill>
                  <a:srgbClr val="111827"/>
                </a:solidFill>
                <a:latin typeface="NotoSans" pitchFamily="34" charset="0"/>
                <a:ea typeface="NotoSans" pitchFamily="34" charset="-122"/>
                <a:cs typeface="NotoSans" pitchFamily="34" charset="-120"/>
              </a:rPr>
              <a:t>The ache you feel when someone you love is far away or a relationship is broken — you can't stop thinking about them, you keep the door open, you hope, you show up uninvited, you keep loving even when it isn't returned yet.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4572000" y="0"/>
            <a:ext cx="4572000" cy="5143500"/>
          </a:xfrm>
          <a:prstGeom prst="rect">
            <a:avLst/>
          </a:prstGeom>
        </p:spPr>
      </p:pic>
      <p:sp>
        <p:nvSpPr>
          <p:cNvPr id="4" name="Text 1"/>
          <p:cNvSpPr/>
          <p:nvPr/>
        </p:nvSpPr>
        <p:spPr>
          <a:xfrm>
            <a:off x="457200" y="462915"/>
            <a:ext cx="3840480" cy="627507"/>
          </a:xfrm>
          <a:prstGeom prst="rect">
            <a:avLst/>
          </a:prstGeom>
          <a:noFill/>
          <a:ln/>
        </p:spPr>
        <p:txBody>
          <a:bodyPr wrap="square" rtlCol="0" anchor="t"/>
          <a:lstStyle/>
          <a:p>
            <a:pPr algn="l" indent="0" marL="0">
              <a:buNone/>
            </a:pPr>
            <a:r>
              <a:rPr lang="en-US" sz="2200" b="1" dirty="0">
                <a:solidFill>
                  <a:srgbClr val="111827"/>
                </a:solidFill>
                <a:latin typeface="Poppins" pitchFamily="34" charset="0"/>
                <a:ea typeface="Poppins" pitchFamily="34" charset="-122"/>
                <a:cs typeface="Poppins" pitchFamily="34" charset="-120"/>
              </a:rPr>
              <a:t>Eden: Face-to-Face Closeness</a:t>
            </a:r>
            <a:endParaRPr lang="en-US" sz="2200" dirty="0"/>
          </a:p>
        </p:txBody>
      </p:sp>
      <p:sp>
        <p:nvSpPr>
          <p:cNvPr id="5" name="Text 2"/>
          <p:cNvSpPr/>
          <p:nvPr/>
        </p:nvSpPr>
        <p:spPr>
          <a:xfrm>
            <a:off x="457200" y="1296162"/>
            <a:ext cx="3840480" cy="3384423"/>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God walked with Adam and Eve in the cool of the day — a regular rhythm, not a one-time visit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No priest, temple, altar, sacrifice, or veil between them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God breathed life into Adam Himself and planted a garden just for them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This is the blueprint: nearness, not distance — relationship, not just rules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AF5FF"/>
          </a:solidFill>
          <a:ln/>
        </p:spPr>
      </p:sp>
      <p:sp>
        <p:nvSpPr>
          <p:cNvPr id="3" name="Shape 1"/>
          <p:cNvSpPr/>
          <p:nvPr/>
        </p:nvSpPr>
        <p:spPr>
          <a:xfrm>
            <a:off x="0" y="257175"/>
            <a:ext cx="9144000" cy="266319"/>
          </a:xfrm>
          <a:prstGeom prst="rect">
            <a:avLst/>
          </a:prstGeom>
          <a:solidFill>
            <a:srgbClr val="FAF5FF"/>
          </a:solidFill>
          <a:ln/>
        </p:spPr>
      </p:sp>
      <p:sp>
        <p:nvSpPr>
          <p:cNvPr id="4" name="Shape 2"/>
          <p:cNvSpPr/>
          <p:nvPr/>
        </p:nvSpPr>
        <p:spPr>
          <a:xfrm>
            <a:off x="0" y="514350"/>
            <a:ext cx="9144000" cy="266319"/>
          </a:xfrm>
          <a:prstGeom prst="rect">
            <a:avLst/>
          </a:prstGeom>
          <a:solidFill>
            <a:srgbClr val="FAF5FF"/>
          </a:solidFill>
          <a:ln/>
        </p:spPr>
      </p:sp>
      <p:sp>
        <p:nvSpPr>
          <p:cNvPr id="5" name="Shape 3"/>
          <p:cNvSpPr/>
          <p:nvPr/>
        </p:nvSpPr>
        <p:spPr>
          <a:xfrm>
            <a:off x="0" y="771525"/>
            <a:ext cx="9144000" cy="266319"/>
          </a:xfrm>
          <a:prstGeom prst="rect">
            <a:avLst/>
          </a:prstGeom>
          <a:solidFill>
            <a:srgbClr val="FAF5FF"/>
          </a:solidFill>
          <a:ln/>
        </p:spPr>
      </p:sp>
      <p:sp>
        <p:nvSpPr>
          <p:cNvPr id="6" name="Shape 4"/>
          <p:cNvSpPr/>
          <p:nvPr/>
        </p:nvSpPr>
        <p:spPr>
          <a:xfrm>
            <a:off x="0" y="1028700"/>
            <a:ext cx="9144000" cy="266319"/>
          </a:xfrm>
          <a:prstGeom prst="rect">
            <a:avLst/>
          </a:prstGeom>
          <a:solidFill>
            <a:srgbClr val="FBF5FF"/>
          </a:solidFill>
          <a:ln/>
        </p:spPr>
      </p:sp>
      <p:sp>
        <p:nvSpPr>
          <p:cNvPr id="7" name="Shape 5"/>
          <p:cNvSpPr/>
          <p:nvPr/>
        </p:nvSpPr>
        <p:spPr>
          <a:xfrm>
            <a:off x="0" y="1285875"/>
            <a:ext cx="9144000" cy="266319"/>
          </a:xfrm>
          <a:prstGeom prst="rect">
            <a:avLst/>
          </a:prstGeom>
          <a:solidFill>
            <a:srgbClr val="FBF5FF"/>
          </a:solidFill>
          <a:ln/>
        </p:spPr>
      </p:sp>
      <p:sp>
        <p:nvSpPr>
          <p:cNvPr id="8" name="Shape 6"/>
          <p:cNvSpPr/>
          <p:nvPr/>
        </p:nvSpPr>
        <p:spPr>
          <a:xfrm>
            <a:off x="0" y="1543050"/>
            <a:ext cx="9144000" cy="266319"/>
          </a:xfrm>
          <a:prstGeom prst="rect">
            <a:avLst/>
          </a:prstGeom>
          <a:solidFill>
            <a:srgbClr val="FBF5FF"/>
          </a:solidFill>
          <a:ln/>
        </p:spPr>
      </p:sp>
      <p:sp>
        <p:nvSpPr>
          <p:cNvPr id="9" name="Shape 7"/>
          <p:cNvSpPr/>
          <p:nvPr/>
        </p:nvSpPr>
        <p:spPr>
          <a:xfrm>
            <a:off x="0" y="1800225"/>
            <a:ext cx="9144000" cy="266319"/>
          </a:xfrm>
          <a:prstGeom prst="rect">
            <a:avLst/>
          </a:prstGeom>
          <a:solidFill>
            <a:srgbClr val="FBF5FF"/>
          </a:solidFill>
          <a:ln/>
        </p:spPr>
      </p:sp>
      <p:sp>
        <p:nvSpPr>
          <p:cNvPr id="10" name="Shape 8"/>
          <p:cNvSpPr/>
          <p:nvPr/>
        </p:nvSpPr>
        <p:spPr>
          <a:xfrm>
            <a:off x="0" y="2057400"/>
            <a:ext cx="9144000" cy="266319"/>
          </a:xfrm>
          <a:prstGeom prst="rect">
            <a:avLst/>
          </a:prstGeom>
          <a:solidFill>
            <a:srgbClr val="FBF5FF"/>
          </a:solidFill>
          <a:ln/>
        </p:spPr>
      </p:sp>
      <p:sp>
        <p:nvSpPr>
          <p:cNvPr id="11" name="Shape 9"/>
          <p:cNvSpPr/>
          <p:nvPr/>
        </p:nvSpPr>
        <p:spPr>
          <a:xfrm>
            <a:off x="0" y="2314575"/>
            <a:ext cx="9144000" cy="266319"/>
          </a:xfrm>
          <a:prstGeom prst="rect">
            <a:avLst/>
          </a:prstGeom>
          <a:solidFill>
            <a:srgbClr val="FBF5FF"/>
          </a:solidFill>
          <a:ln/>
        </p:spPr>
      </p:sp>
      <p:sp>
        <p:nvSpPr>
          <p:cNvPr id="12" name="Shape 10"/>
          <p:cNvSpPr/>
          <p:nvPr/>
        </p:nvSpPr>
        <p:spPr>
          <a:xfrm>
            <a:off x="0" y="2571750"/>
            <a:ext cx="9144000" cy="266319"/>
          </a:xfrm>
          <a:prstGeom prst="rect">
            <a:avLst/>
          </a:prstGeom>
          <a:solidFill>
            <a:srgbClr val="FCF4FF"/>
          </a:solidFill>
          <a:ln/>
        </p:spPr>
      </p:sp>
      <p:sp>
        <p:nvSpPr>
          <p:cNvPr id="13" name="Shape 11"/>
          <p:cNvSpPr/>
          <p:nvPr/>
        </p:nvSpPr>
        <p:spPr>
          <a:xfrm>
            <a:off x="0" y="2828925"/>
            <a:ext cx="9144000" cy="266319"/>
          </a:xfrm>
          <a:prstGeom prst="rect">
            <a:avLst/>
          </a:prstGeom>
          <a:solidFill>
            <a:srgbClr val="FCF4FF"/>
          </a:solidFill>
          <a:ln/>
        </p:spPr>
      </p:sp>
      <p:sp>
        <p:nvSpPr>
          <p:cNvPr id="14" name="Shape 12"/>
          <p:cNvSpPr/>
          <p:nvPr/>
        </p:nvSpPr>
        <p:spPr>
          <a:xfrm>
            <a:off x="0" y="3086100"/>
            <a:ext cx="9144000" cy="266319"/>
          </a:xfrm>
          <a:prstGeom prst="rect">
            <a:avLst/>
          </a:prstGeom>
          <a:solidFill>
            <a:srgbClr val="FCF4FF"/>
          </a:solidFill>
          <a:ln/>
        </p:spPr>
      </p:sp>
      <p:sp>
        <p:nvSpPr>
          <p:cNvPr id="15" name="Shape 13"/>
          <p:cNvSpPr/>
          <p:nvPr/>
        </p:nvSpPr>
        <p:spPr>
          <a:xfrm>
            <a:off x="0" y="3343275"/>
            <a:ext cx="9144000" cy="266319"/>
          </a:xfrm>
          <a:prstGeom prst="rect">
            <a:avLst/>
          </a:prstGeom>
          <a:solidFill>
            <a:srgbClr val="FCF4FF"/>
          </a:solidFill>
          <a:ln/>
        </p:spPr>
      </p:sp>
      <p:sp>
        <p:nvSpPr>
          <p:cNvPr id="16" name="Shape 14"/>
          <p:cNvSpPr/>
          <p:nvPr/>
        </p:nvSpPr>
        <p:spPr>
          <a:xfrm>
            <a:off x="0" y="3600450"/>
            <a:ext cx="9144000" cy="266319"/>
          </a:xfrm>
          <a:prstGeom prst="rect">
            <a:avLst/>
          </a:prstGeom>
          <a:solidFill>
            <a:srgbClr val="FCF4FF"/>
          </a:solidFill>
          <a:ln/>
        </p:spPr>
      </p:sp>
      <p:sp>
        <p:nvSpPr>
          <p:cNvPr id="17" name="Shape 15"/>
          <p:cNvSpPr/>
          <p:nvPr/>
        </p:nvSpPr>
        <p:spPr>
          <a:xfrm>
            <a:off x="0" y="3857625"/>
            <a:ext cx="9144000" cy="266319"/>
          </a:xfrm>
          <a:prstGeom prst="rect">
            <a:avLst/>
          </a:prstGeom>
          <a:solidFill>
            <a:srgbClr val="FCF4FF"/>
          </a:solidFill>
          <a:ln/>
        </p:spPr>
      </p:sp>
      <p:sp>
        <p:nvSpPr>
          <p:cNvPr id="18" name="Shape 16"/>
          <p:cNvSpPr/>
          <p:nvPr/>
        </p:nvSpPr>
        <p:spPr>
          <a:xfrm>
            <a:off x="0" y="4114800"/>
            <a:ext cx="9144000" cy="266319"/>
          </a:xfrm>
          <a:prstGeom prst="rect">
            <a:avLst/>
          </a:prstGeom>
          <a:solidFill>
            <a:srgbClr val="FDF4FF"/>
          </a:solidFill>
          <a:ln/>
        </p:spPr>
      </p:sp>
      <p:sp>
        <p:nvSpPr>
          <p:cNvPr id="19" name="Shape 17"/>
          <p:cNvSpPr/>
          <p:nvPr/>
        </p:nvSpPr>
        <p:spPr>
          <a:xfrm>
            <a:off x="0" y="4371975"/>
            <a:ext cx="9144000" cy="266319"/>
          </a:xfrm>
          <a:prstGeom prst="rect">
            <a:avLst/>
          </a:prstGeom>
          <a:solidFill>
            <a:srgbClr val="FDF4FF"/>
          </a:solidFill>
          <a:ln/>
        </p:spPr>
      </p:sp>
      <p:sp>
        <p:nvSpPr>
          <p:cNvPr id="20" name="Shape 18"/>
          <p:cNvSpPr/>
          <p:nvPr/>
        </p:nvSpPr>
        <p:spPr>
          <a:xfrm>
            <a:off x="0" y="4629150"/>
            <a:ext cx="9144000" cy="266319"/>
          </a:xfrm>
          <a:prstGeom prst="rect">
            <a:avLst/>
          </a:prstGeom>
          <a:solidFill>
            <a:srgbClr val="FDF4FF"/>
          </a:solidFill>
          <a:ln/>
        </p:spPr>
      </p:sp>
      <p:sp>
        <p:nvSpPr>
          <p:cNvPr id="21" name="Shape 19"/>
          <p:cNvSpPr/>
          <p:nvPr/>
        </p:nvSpPr>
        <p:spPr>
          <a:xfrm>
            <a:off x="0" y="4886325"/>
            <a:ext cx="9144000" cy="266319"/>
          </a:xfrm>
          <a:prstGeom prst="rect">
            <a:avLst/>
          </a:prstGeom>
          <a:solidFill>
            <a:srgbClr val="FDF4FF"/>
          </a:solidFill>
          <a:ln/>
        </p:spPr>
      </p:sp>
      <p:sp>
        <p:nvSpPr>
          <p:cNvPr id="22" name="Text 20"/>
          <p:cNvSpPr/>
          <p:nvPr/>
        </p:nvSpPr>
        <p:spPr>
          <a:xfrm>
            <a:off x="457200" y="2571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3" name="Text 21"/>
          <p:cNvSpPr/>
          <p:nvPr/>
        </p:nvSpPr>
        <p:spPr>
          <a:xfrm>
            <a:off x="914400" y="411480"/>
            <a:ext cx="7315200" cy="3703320"/>
          </a:xfrm>
          <a:prstGeom prst="rect">
            <a:avLst/>
          </a:prstGeom>
          <a:noFill/>
          <a:ln/>
        </p:spPr>
        <p:txBody>
          <a:bodyPr wrap="square" rtlCol="0" anchor="ctr"/>
          <a:lstStyle/>
          <a:p>
            <a:pPr algn="ctr" indent="0" marL="0">
              <a:lnSpc>
                <a:spcPts val="3300"/>
              </a:lnSpc>
              <a:buNone/>
            </a:pPr>
            <a:r>
              <a:rPr lang="en-US" sz="2200" i="1" dirty="0">
                <a:solidFill>
                  <a:srgbClr val="581C87"/>
                </a:solidFill>
                <a:latin typeface="Poppins" pitchFamily="34" charset="0"/>
                <a:ea typeface="Poppins" pitchFamily="34" charset="-122"/>
                <a:cs typeface="Poppins" pitchFamily="34" charset="-120"/>
              </a:rPr>
              <a:t>And they heard the sound of the LORD God walking in the garden in the cool of the day, and the man and his wife hid themselves from the presence of the LORD God among the trees of the garden.</a:t>
            </a:r>
            <a:endParaRPr lang="en-US" sz="2200" dirty="0"/>
          </a:p>
        </p:txBody>
      </p:sp>
      <p:sp>
        <p:nvSpPr>
          <p:cNvPr id="24" name="Text 22"/>
          <p:cNvSpPr/>
          <p:nvPr/>
        </p:nvSpPr>
        <p:spPr>
          <a:xfrm>
            <a:off x="7772400" y="33432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5" name="Text 23"/>
          <p:cNvSpPr/>
          <p:nvPr/>
        </p:nvSpPr>
        <p:spPr>
          <a:xfrm>
            <a:off x="457200" y="4217670"/>
            <a:ext cx="8229600" cy="514350"/>
          </a:xfrm>
          <a:prstGeom prst="rect">
            <a:avLst/>
          </a:prstGeom>
          <a:noFill/>
          <a:ln/>
        </p:spPr>
        <p:txBody>
          <a:bodyPr wrap="square" rtlCol="0" anchor="t"/>
          <a:lstStyle/>
          <a:p>
            <a:pPr algn="ctr" indent="0" marL="0">
              <a:buNone/>
            </a:pPr>
            <a:r>
              <a:rPr lang="en-US" sz="1500" b="1" dirty="0">
                <a:solidFill>
                  <a:srgbClr val="581C87"/>
                </a:solidFill>
                <a:latin typeface="NotoSans-Bold" pitchFamily="34" charset="0"/>
                <a:ea typeface="NotoSans-Bold" pitchFamily="34" charset="-122"/>
                <a:cs typeface="NotoSans-Bold" pitchFamily="34" charset="-120"/>
              </a:rPr>
              <a:t>— Genesis 3:8</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4572000" cy="5143500"/>
          </a:xfrm>
          <a:prstGeom prst="rect">
            <a:avLst/>
          </a:prstGeom>
        </p:spPr>
      </p:pic>
      <p:sp>
        <p:nvSpPr>
          <p:cNvPr id="4" name="Text 1"/>
          <p:cNvSpPr/>
          <p:nvPr/>
        </p:nvSpPr>
        <p:spPr>
          <a:xfrm>
            <a:off x="4846320" y="462915"/>
            <a:ext cx="3840480" cy="627507"/>
          </a:xfrm>
          <a:prstGeom prst="rect">
            <a:avLst/>
          </a:prstGeom>
          <a:noFill/>
          <a:ln/>
        </p:spPr>
        <p:txBody>
          <a:bodyPr wrap="square" rtlCol="0" anchor="t"/>
          <a:lstStyle/>
          <a:p>
            <a:pPr algn="l" indent="0" marL="0">
              <a:buNone/>
            </a:pPr>
            <a:r>
              <a:rPr lang="en-US" sz="2200" b="1" dirty="0">
                <a:solidFill>
                  <a:srgbClr val="111827"/>
                </a:solidFill>
                <a:latin typeface="Poppins" pitchFamily="34" charset="0"/>
                <a:ea typeface="Poppins" pitchFamily="34" charset="-122"/>
                <a:cs typeface="Poppins" pitchFamily="34" charset="-120"/>
              </a:rPr>
              <a:t>The Fall: The Barrier of Sin</a:t>
            </a:r>
            <a:endParaRPr lang="en-US" sz="2200" dirty="0"/>
          </a:p>
        </p:txBody>
      </p:sp>
      <p:sp>
        <p:nvSpPr>
          <p:cNvPr id="5" name="Text 2"/>
          <p:cNvSpPr/>
          <p:nvPr/>
        </p:nvSpPr>
        <p:spPr>
          <a:xfrm>
            <a:off x="4846320" y="1296162"/>
            <a:ext cx="3840480" cy="3384423"/>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Adam and Eve hide from God — shame replaces intimacy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They are sent out of the garden; cherubim and a flaming sword guard the way back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This isn't God abandoning them out of anger alone — sin creates a real barrier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Even in judgment, God clothes them Himself — love threading through the consequence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AF5FF"/>
          </a:solidFill>
          <a:ln/>
        </p:spPr>
      </p:sp>
      <p:sp>
        <p:nvSpPr>
          <p:cNvPr id="3" name="Shape 1"/>
          <p:cNvSpPr/>
          <p:nvPr/>
        </p:nvSpPr>
        <p:spPr>
          <a:xfrm>
            <a:off x="0" y="257175"/>
            <a:ext cx="9144000" cy="266319"/>
          </a:xfrm>
          <a:prstGeom prst="rect">
            <a:avLst/>
          </a:prstGeom>
          <a:solidFill>
            <a:srgbClr val="FAF5FF"/>
          </a:solidFill>
          <a:ln/>
        </p:spPr>
      </p:sp>
      <p:sp>
        <p:nvSpPr>
          <p:cNvPr id="4" name="Shape 2"/>
          <p:cNvSpPr/>
          <p:nvPr/>
        </p:nvSpPr>
        <p:spPr>
          <a:xfrm>
            <a:off x="0" y="514350"/>
            <a:ext cx="9144000" cy="266319"/>
          </a:xfrm>
          <a:prstGeom prst="rect">
            <a:avLst/>
          </a:prstGeom>
          <a:solidFill>
            <a:srgbClr val="FAF5FF"/>
          </a:solidFill>
          <a:ln/>
        </p:spPr>
      </p:sp>
      <p:sp>
        <p:nvSpPr>
          <p:cNvPr id="5" name="Shape 3"/>
          <p:cNvSpPr/>
          <p:nvPr/>
        </p:nvSpPr>
        <p:spPr>
          <a:xfrm>
            <a:off x="0" y="771525"/>
            <a:ext cx="9144000" cy="266319"/>
          </a:xfrm>
          <a:prstGeom prst="rect">
            <a:avLst/>
          </a:prstGeom>
          <a:solidFill>
            <a:srgbClr val="FAF5FF"/>
          </a:solidFill>
          <a:ln/>
        </p:spPr>
      </p:sp>
      <p:sp>
        <p:nvSpPr>
          <p:cNvPr id="6" name="Shape 4"/>
          <p:cNvSpPr/>
          <p:nvPr/>
        </p:nvSpPr>
        <p:spPr>
          <a:xfrm>
            <a:off x="0" y="1028700"/>
            <a:ext cx="9144000" cy="266319"/>
          </a:xfrm>
          <a:prstGeom prst="rect">
            <a:avLst/>
          </a:prstGeom>
          <a:solidFill>
            <a:srgbClr val="FBF5FF"/>
          </a:solidFill>
          <a:ln/>
        </p:spPr>
      </p:sp>
      <p:sp>
        <p:nvSpPr>
          <p:cNvPr id="7" name="Shape 5"/>
          <p:cNvSpPr/>
          <p:nvPr/>
        </p:nvSpPr>
        <p:spPr>
          <a:xfrm>
            <a:off x="0" y="1285875"/>
            <a:ext cx="9144000" cy="266319"/>
          </a:xfrm>
          <a:prstGeom prst="rect">
            <a:avLst/>
          </a:prstGeom>
          <a:solidFill>
            <a:srgbClr val="FBF5FF"/>
          </a:solidFill>
          <a:ln/>
        </p:spPr>
      </p:sp>
      <p:sp>
        <p:nvSpPr>
          <p:cNvPr id="8" name="Shape 6"/>
          <p:cNvSpPr/>
          <p:nvPr/>
        </p:nvSpPr>
        <p:spPr>
          <a:xfrm>
            <a:off x="0" y="1543050"/>
            <a:ext cx="9144000" cy="266319"/>
          </a:xfrm>
          <a:prstGeom prst="rect">
            <a:avLst/>
          </a:prstGeom>
          <a:solidFill>
            <a:srgbClr val="FBF5FF"/>
          </a:solidFill>
          <a:ln/>
        </p:spPr>
      </p:sp>
      <p:sp>
        <p:nvSpPr>
          <p:cNvPr id="9" name="Shape 7"/>
          <p:cNvSpPr/>
          <p:nvPr/>
        </p:nvSpPr>
        <p:spPr>
          <a:xfrm>
            <a:off x="0" y="1800225"/>
            <a:ext cx="9144000" cy="266319"/>
          </a:xfrm>
          <a:prstGeom prst="rect">
            <a:avLst/>
          </a:prstGeom>
          <a:solidFill>
            <a:srgbClr val="FBF5FF"/>
          </a:solidFill>
          <a:ln/>
        </p:spPr>
      </p:sp>
      <p:sp>
        <p:nvSpPr>
          <p:cNvPr id="10" name="Shape 8"/>
          <p:cNvSpPr/>
          <p:nvPr/>
        </p:nvSpPr>
        <p:spPr>
          <a:xfrm>
            <a:off x="0" y="2057400"/>
            <a:ext cx="9144000" cy="266319"/>
          </a:xfrm>
          <a:prstGeom prst="rect">
            <a:avLst/>
          </a:prstGeom>
          <a:solidFill>
            <a:srgbClr val="FBF5FF"/>
          </a:solidFill>
          <a:ln/>
        </p:spPr>
      </p:sp>
      <p:sp>
        <p:nvSpPr>
          <p:cNvPr id="11" name="Shape 9"/>
          <p:cNvSpPr/>
          <p:nvPr/>
        </p:nvSpPr>
        <p:spPr>
          <a:xfrm>
            <a:off x="0" y="2314575"/>
            <a:ext cx="9144000" cy="266319"/>
          </a:xfrm>
          <a:prstGeom prst="rect">
            <a:avLst/>
          </a:prstGeom>
          <a:solidFill>
            <a:srgbClr val="FBF5FF"/>
          </a:solidFill>
          <a:ln/>
        </p:spPr>
      </p:sp>
      <p:sp>
        <p:nvSpPr>
          <p:cNvPr id="12" name="Shape 10"/>
          <p:cNvSpPr/>
          <p:nvPr/>
        </p:nvSpPr>
        <p:spPr>
          <a:xfrm>
            <a:off x="0" y="2571750"/>
            <a:ext cx="9144000" cy="266319"/>
          </a:xfrm>
          <a:prstGeom prst="rect">
            <a:avLst/>
          </a:prstGeom>
          <a:solidFill>
            <a:srgbClr val="FCF4FF"/>
          </a:solidFill>
          <a:ln/>
        </p:spPr>
      </p:sp>
      <p:sp>
        <p:nvSpPr>
          <p:cNvPr id="13" name="Shape 11"/>
          <p:cNvSpPr/>
          <p:nvPr/>
        </p:nvSpPr>
        <p:spPr>
          <a:xfrm>
            <a:off x="0" y="2828925"/>
            <a:ext cx="9144000" cy="266319"/>
          </a:xfrm>
          <a:prstGeom prst="rect">
            <a:avLst/>
          </a:prstGeom>
          <a:solidFill>
            <a:srgbClr val="FCF4FF"/>
          </a:solidFill>
          <a:ln/>
        </p:spPr>
      </p:sp>
      <p:sp>
        <p:nvSpPr>
          <p:cNvPr id="14" name="Shape 12"/>
          <p:cNvSpPr/>
          <p:nvPr/>
        </p:nvSpPr>
        <p:spPr>
          <a:xfrm>
            <a:off x="0" y="3086100"/>
            <a:ext cx="9144000" cy="266319"/>
          </a:xfrm>
          <a:prstGeom prst="rect">
            <a:avLst/>
          </a:prstGeom>
          <a:solidFill>
            <a:srgbClr val="FCF4FF"/>
          </a:solidFill>
          <a:ln/>
        </p:spPr>
      </p:sp>
      <p:sp>
        <p:nvSpPr>
          <p:cNvPr id="15" name="Shape 13"/>
          <p:cNvSpPr/>
          <p:nvPr/>
        </p:nvSpPr>
        <p:spPr>
          <a:xfrm>
            <a:off x="0" y="3343275"/>
            <a:ext cx="9144000" cy="266319"/>
          </a:xfrm>
          <a:prstGeom prst="rect">
            <a:avLst/>
          </a:prstGeom>
          <a:solidFill>
            <a:srgbClr val="FCF4FF"/>
          </a:solidFill>
          <a:ln/>
        </p:spPr>
      </p:sp>
      <p:sp>
        <p:nvSpPr>
          <p:cNvPr id="16" name="Shape 14"/>
          <p:cNvSpPr/>
          <p:nvPr/>
        </p:nvSpPr>
        <p:spPr>
          <a:xfrm>
            <a:off x="0" y="3600450"/>
            <a:ext cx="9144000" cy="266319"/>
          </a:xfrm>
          <a:prstGeom prst="rect">
            <a:avLst/>
          </a:prstGeom>
          <a:solidFill>
            <a:srgbClr val="FCF4FF"/>
          </a:solidFill>
          <a:ln/>
        </p:spPr>
      </p:sp>
      <p:sp>
        <p:nvSpPr>
          <p:cNvPr id="17" name="Shape 15"/>
          <p:cNvSpPr/>
          <p:nvPr/>
        </p:nvSpPr>
        <p:spPr>
          <a:xfrm>
            <a:off x="0" y="3857625"/>
            <a:ext cx="9144000" cy="266319"/>
          </a:xfrm>
          <a:prstGeom prst="rect">
            <a:avLst/>
          </a:prstGeom>
          <a:solidFill>
            <a:srgbClr val="FCF4FF"/>
          </a:solidFill>
          <a:ln/>
        </p:spPr>
      </p:sp>
      <p:sp>
        <p:nvSpPr>
          <p:cNvPr id="18" name="Shape 16"/>
          <p:cNvSpPr/>
          <p:nvPr/>
        </p:nvSpPr>
        <p:spPr>
          <a:xfrm>
            <a:off x="0" y="4114800"/>
            <a:ext cx="9144000" cy="266319"/>
          </a:xfrm>
          <a:prstGeom prst="rect">
            <a:avLst/>
          </a:prstGeom>
          <a:solidFill>
            <a:srgbClr val="FDF4FF"/>
          </a:solidFill>
          <a:ln/>
        </p:spPr>
      </p:sp>
      <p:sp>
        <p:nvSpPr>
          <p:cNvPr id="19" name="Shape 17"/>
          <p:cNvSpPr/>
          <p:nvPr/>
        </p:nvSpPr>
        <p:spPr>
          <a:xfrm>
            <a:off x="0" y="4371975"/>
            <a:ext cx="9144000" cy="266319"/>
          </a:xfrm>
          <a:prstGeom prst="rect">
            <a:avLst/>
          </a:prstGeom>
          <a:solidFill>
            <a:srgbClr val="FDF4FF"/>
          </a:solidFill>
          <a:ln/>
        </p:spPr>
      </p:sp>
      <p:sp>
        <p:nvSpPr>
          <p:cNvPr id="20" name="Shape 18"/>
          <p:cNvSpPr/>
          <p:nvPr/>
        </p:nvSpPr>
        <p:spPr>
          <a:xfrm>
            <a:off x="0" y="4629150"/>
            <a:ext cx="9144000" cy="266319"/>
          </a:xfrm>
          <a:prstGeom prst="rect">
            <a:avLst/>
          </a:prstGeom>
          <a:solidFill>
            <a:srgbClr val="FDF4FF"/>
          </a:solidFill>
          <a:ln/>
        </p:spPr>
      </p:sp>
      <p:sp>
        <p:nvSpPr>
          <p:cNvPr id="21" name="Shape 19"/>
          <p:cNvSpPr/>
          <p:nvPr/>
        </p:nvSpPr>
        <p:spPr>
          <a:xfrm>
            <a:off x="0" y="4886325"/>
            <a:ext cx="9144000" cy="266319"/>
          </a:xfrm>
          <a:prstGeom prst="rect">
            <a:avLst/>
          </a:prstGeom>
          <a:solidFill>
            <a:srgbClr val="FDF4FF"/>
          </a:solidFill>
          <a:ln/>
        </p:spPr>
      </p:sp>
      <p:sp>
        <p:nvSpPr>
          <p:cNvPr id="22" name="Text 20"/>
          <p:cNvSpPr/>
          <p:nvPr/>
        </p:nvSpPr>
        <p:spPr>
          <a:xfrm>
            <a:off x="457200" y="2571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3" name="Text 21"/>
          <p:cNvSpPr/>
          <p:nvPr/>
        </p:nvSpPr>
        <p:spPr>
          <a:xfrm>
            <a:off x="914400" y="411480"/>
            <a:ext cx="7315200" cy="3703320"/>
          </a:xfrm>
          <a:prstGeom prst="rect">
            <a:avLst/>
          </a:prstGeom>
          <a:noFill/>
          <a:ln/>
        </p:spPr>
        <p:txBody>
          <a:bodyPr wrap="square" rtlCol="0" anchor="ctr"/>
          <a:lstStyle/>
          <a:p>
            <a:pPr algn="ctr" indent="0" marL="0">
              <a:lnSpc>
                <a:spcPts val="3300"/>
              </a:lnSpc>
              <a:buNone/>
            </a:pPr>
            <a:r>
              <a:rPr lang="en-US" sz="2200" i="1" dirty="0">
                <a:solidFill>
                  <a:srgbClr val="581C87"/>
                </a:solidFill>
                <a:latin typeface="Poppins" pitchFamily="34" charset="0"/>
                <a:ea typeface="Poppins" pitchFamily="34" charset="-122"/>
                <a:cs typeface="Poppins" pitchFamily="34" charset="-120"/>
              </a:rPr>
              <a:t>And I will put enmity between you and the woman, and between your offspring and her offspring; he shall bruise your head, and you shall bruise his heel.</a:t>
            </a:r>
            <a:endParaRPr lang="en-US" sz="2200" dirty="0"/>
          </a:p>
        </p:txBody>
      </p:sp>
      <p:sp>
        <p:nvSpPr>
          <p:cNvPr id="24" name="Text 22"/>
          <p:cNvSpPr/>
          <p:nvPr/>
        </p:nvSpPr>
        <p:spPr>
          <a:xfrm>
            <a:off x="7772400" y="33432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5" name="Text 23"/>
          <p:cNvSpPr/>
          <p:nvPr/>
        </p:nvSpPr>
        <p:spPr>
          <a:xfrm>
            <a:off x="457200" y="4217670"/>
            <a:ext cx="8229600" cy="514350"/>
          </a:xfrm>
          <a:prstGeom prst="rect">
            <a:avLst/>
          </a:prstGeom>
          <a:noFill/>
          <a:ln/>
        </p:spPr>
        <p:txBody>
          <a:bodyPr wrap="square" rtlCol="0" anchor="t"/>
          <a:lstStyle/>
          <a:p>
            <a:pPr algn="ctr" indent="0" marL="0">
              <a:buNone/>
            </a:pPr>
            <a:r>
              <a:rPr lang="en-US" sz="1500" b="1" dirty="0">
                <a:solidFill>
                  <a:srgbClr val="581C87"/>
                </a:solidFill>
                <a:latin typeface="NotoSans-Bold" pitchFamily="34" charset="0"/>
                <a:ea typeface="NotoSans-Bold" pitchFamily="34" charset="-122"/>
                <a:cs typeface="NotoSans-Bold" pitchFamily="34" charset="-120"/>
              </a:rPr>
              <a:t>— Genesis 3:15</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4572000" y="0"/>
            <a:ext cx="4572000" cy="5143500"/>
          </a:xfrm>
          <a:prstGeom prst="rect">
            <a:avLst/>
          </a:prstGeom>
        </p:spPr>
      </p:pic>
      <p:sp>
        <p:nvSpPr>
          <p:cNvPr id="4" name="Text 1"/>
          <p:cNvSpPr/>
          <p:nvPr/>
        </p:nvSpPr>
        <p:spPr>
          <a:xfrm>
            <a:off x="457200" y="462915"/>
            <a:ext cx="3840480" cy="925449"/>
          </a:xfrm>
          <a:prstGeom prst="rect">
            <a:avLst/>
          </a:prstGeom>
          <a:noFill/>
          <a:ln/>
        </p:spPr>
        <p:txBody>
          <a:bodyPr wrap="square" rtlCol="0" anchor="t"/>
          <a:lstStyle/>
          <a:p>
            <a:pPr algn="l" indent="0" marL="0">
              <a:buNone/>
            </a:pPr>
            <a:r>
              <a:rPr lang="en-US" sz="2200" b="1" dirty="0">
                <a:solidFill>
                  <a:srgbClr val="111827"/>
                </a:solidFill>
                <a:latin typeface="Poppins" pitchFamily="34" charset="0"/>
                <a:ea typeface="Poppins" pitchFamily="34" charset="-122"/>
                <a:cs typeface="Poppins" pitchFamily="34" charset="-120"/>
              </a:rPr>
              <a:t>The Promise: A Father Who Keeps Pursuing</a:t>
            </a:r>
            <a:endParaRPr lang="en-US" sz="2200" dirty="0"/>
          </a:p>
        </p:txBody>
      </p:sp>
      <p:sp>
        <p:nvSpPr>
          <p:cNvPr id="5" name="Text 2"/>
          <p:cNvSpPr/>
          <p:nvPr/>
        </p:nvSpPr>
        <p:spPr>
          <a:xfrm>
            <a:off x="457200" y="1594104"/>
            <a:ext cx="3840480" cy="3086481"/>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God calls Abraham and makes a covenant: 'I will be your God, and you will be my people'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This covenant language repeats again and again throughout Scripture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Even after the Fall, God is already binding Himself back to His people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 pursuit doesn't wait for humanity to get it together first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4572000" cy="5143500"/>
          </a:xfrm>
          <a:prstGeom prst="rect">
            <a:avLst/>
          </a:prstGeom>
        </p:spPr>
      </p:pic>
      <p:sp>
        <p:nvSpPr>
          <p:cNvPr id="4" name="Text 1"/>
          <p:cNvSpPr/>
          <p:nvPr/>
        </p:nvSpPr>
        <p:spPr>
          <a:xfrm>
            <a:off x="4846320" y="462915"/>
            <a:ext cx="3840480" cy="925449"/>
          </a:xfrm>
          <a:prstGeom prst="rect">
            <a:avLst/>
          </a:prstGeom>
          <a:noFill/>
          <a:ln/>
        </p:spPr>
        <p:txBody>
          <a:bodyPr wrap="square" rtlCol="0" anchor="t"/>
          <a:lstStyle/>
          <a:p>
            <a:pPr algn="l" indent="0" marL="0">
              <a:buNone/>
            </a:pPr>
            <a:r>
              <a:rPr lang="en-US" sz="2200" b="1" dirty="0">
                <a:solidFill>
                  <a:srgbClr val="111827"/>
                </a:solidFill>
                <a:latin typeface="Poppins" pitchFamily="34" charset="0"/>
                <a:ea typeface="Poppins" pitchFamily="34" charset="-122"/>
                <a:cs typeface="Poppins" pitchFamily="34" charset="-120"/>
              </a:rPr>
              <a:t>Tabernacle &amp; Temple: Moving Closer</a:t>
            </a:r>
            <a:endParaRPr lang="en-US" sz="2200" dirty="0"/>
          </a:p>
        </p:txBody>
      </p:sp>
      <p:sp>
        <p:nvSpPr>
          <p:cNvPr id="5" name="Text 2"/>
          <p:cNvSpPr/>
          <p:nvPr/>
        </p:nvSpPr>
        <p:spPr>
          <a:xfrm>
            <a:off x="4846320" y="1594104"/>
            <a:ext cx="3840480" cy="3086481"/>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God: 'Let them make me a sanctuary, that I may dwell among them' (Exodus 25:8)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 Tabernacle, then the Temple — God's presence pitching a tent in the middle of the camp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Still a veil, still a Holy of Holies — access was limited, but the direction is unmistakable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God is moving toward His people, not waiting at a distance for them to arrive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312E81"/>
          </a:solidFill>
          <a:ln/>
        </p:spPr>
      </p:sp>
      <p:sp>
        <p:nvSpPr>
          <p:cNvPr id="3" name="Shape 1"/>
          <p:cNvSpPr/>
          <p:nvPr/>
        </p:nvSpPr>
        <p:spPr>
          <a:xfrm>
            <a:off x="0" y="257175"/>
            <a:ext cx="9144000" cy="266319"/>
          </a:xfrm>
          <a:prstGeom prst="rect">
            <a:avLst/>
          </a:prstGeom>
          <a:solidFill>
            <a:srgbClr val="2F2D7C"/>
          </a:solidFill>
          <a:ln/>
        </p:spPr>
      </p:sp>
      <p:sp>
        <p:nvSpPr>
          <p:cNvPr id="4" name="Shape 2"/>
          <p:cNvSpPr/>
          <p:nvPr/>
        </p:nvSpPr>
        <p:spPr>
          <a:xfrm>
            <a:off x="0" y="514350"/>
            <a:ext cx="9144000" cy="266319"/>
          </a:xfrm>
          <a:prstGeom prst="rect">
            <a:avLst/>
          </a:prstGeom>
          <a:solidFill>
            <a:srgbClr val="2D2C78"/>
          </a:solidFill>
          <a:ln/>
        </p:spPr>
      </p:sp>
      <p:sp>
        <p:nvSpPr>
          <p:cNvPr id="5" name="Shape 3"/>
          <p:cNvSpPr/>
          <p:nvPr/>
        </p:nvSpPr>
        <p:spPr>
          <a:xfrm>
            <a:off x="0" y="771525"/>
            <a:ext cx="9144000" cy="266319"/>
          </a:xfrm>
          <a:prstGeom prst="rect">
            <a:avLst/>
          </a:prstGeom>
          <a:solidFill>
            <a:srgbClr val="2C2A73"/>
          </a:solidFill>
          <a:ln/>
        </p:spPr>
      </p:sp>
      <p:sp>
        <p:nvSpPr>
          <p:cNvPr id="6" name="Shape 4"/>
          <p:cNvSpPr/>
          <p:nvPr/>
        </p:nvSpPr>
        <p:spPr>
          <a:xfrm>
            <a:off x="0" y="1028700"/>
            <a:ext cx="9144000" cy="266319"/>
          </a:xfrm>
          <a:prstGeom prst="rect">
            <a:avLst/>
          </a:prstGeom>
          <a:solidFill>
            <a:srgbClr val="2A296F"/>
          </a:solidFill>
          <a:ln/>
        </p:spPr>
      </p:sp>
      <p:sp>
        <p:nvSpPr>
          <p:cNvPr id="7" name="Shape 5"/>
          <p:cNvSpPr/>
          <p:nvPr/>
        </p:nvSpPr>
        <p:spPr>
          <a:xfrm>
            <a:off x="0" y="1285875"/>
            <a:ext cx="9144000" cy="266319"/>
          </a:xfrm>
          <a:prstGeom prst="rect">
            <a:avLst/>
          </a:prstGeom>
          <a:solidFill>
            <a:srgbClr val="28286A"/>
          </a:solidFill>
          <a:ln/>
        </p:spPr>
      </p:sp>
      <p:sp>
        <p:nvSpPr>
          <p:cNvPr id="8" name="Shape 6"/>
          <p:cNvSpPr/>
          <p:nvPr/>
        </p:nvSpPr>
        <p:spPr>
          <a:xfrm>
            <a:off x="0" y="1543050"/>
            <a:ext cx="9144000" cy="266319"/>
          </a:xfrm>
          <a:prstGeom prst="rect">
            <a:avLst/>
          </a:prstGeom>
          <a:solidFill>
            <a:srgbClr val="262766"/>
          </a:solidFill>
          <a:ln/>
        </p:spPr>
      </p:sp>
      <p:sp>
        <p:nvSpPr>
          <p:cNvPr id="9" name="Shape 7"/>
          <p:cNvSpPr/>
          <p:nvPr/>
        </p:nvSpPr>
        <p:spPr>
          <a:xfrm>
            <a:off x="0" y="1800225"/>
            <a:ext cx="9144000" cy="266319"/>
          </a:xfrm>
          <a:prstGeom prst="rect">
            <a:avLst/>
          </a:prstGeom>
          <a:solidFill>
            <a:srgbClr val="242661"/>
          </a:solidFill>
          <a:ln/>
        </p:spPr>
      </p:sp>
      <p:sp>
        <p:nvSpPr>
          <p:cNvPr id="10" name="Shape 8"/>
          <p:cNvSpPr/>
          <p:nvPr/>
        </p:nvSpPr>
        <p:spPr>
          <a:xfrm>
            <a:off x="0" y="2057400"/>
            <a:ext cx="9144000" cy="266319"/>
          </a:xfrm>
          <a:prstGeom prst="rect">
            <a:avLst/>
          </a:prstGeom>
          <a:solidFill>
            <a:srgbClr val="23245C"/>
          </a:solidFill>
          <a:ln/>
        </p:spPr>
      </p:sp>
      <p:sp>
        <p:nvSpPr>
          <p:cNvPr id="11" name="Shape 9"/>
          <p:cNvSpPr/>
          <p:nvPr/>
        </p:nvSpPr>
        <p:spPr>
          <a:xfrm>
            <a:off x="0" y="2314575"/>
            <a:ext cx="9144000" cy="266319"/>
          </a:xfrm>
          <a:prstGeom prst="rect">
            <a:avLst/>
          </a:prstGeom>
          <a:solidFill>
            <a:srgbClr val="212358"/>
          </a:solidFill>
          <a:ln/>
        </p:spPr>
      </p:sp>
      <p:sp>
        <p:nvSpPr>
          <p:cNvPr id="12" name="Shape 10"/>
          <p:cNvSpPr/>
          <p:nvPr/>
        </p:nvSpPr>
        <p:spPr>
          <a:xfrm>
            <a:off x="0" y="2571750"/>
            <a:ext cx="9144000" cy="266319"/>
          </a:xfrm>
          <a:prstGeom prst="rect">
            <a:avLst/>
          </a:prstGeom>
          <a:solidFill>
            <a:srgbClr val="1F2253"/>
          </a:solidFill>
          <a:ln/>
        </p:spPr>
      </p:sp>
      <p:sp>
        <p:nvSpPr>
          <p:cNvPr id="13" name="Shape 11"/>
          <p:cNvSpPr/>
          <p:nvPr/>
        </p:nvSpPr>
        <p:spPr>
          <a:xfrm>
            <a:off x="0" y="2828925"/>
            <a:ext cx="9144000" cy="266319"/>
          </a:xfrm>
          <a:prstGeom prst="rect">
            <a:avLst/>
          </a:prstGeom>
          <a:solidFill>
            <a:srgbClr val="1D214F"/>
          </a:solidFill>
          <a:ln/>
        </p:spPr>
      </p:sp>
      <p:sp>
        <p:nvSpPr>
          <p:cNvPr id="14" name="Shape 12"/>
          <p:cNvSpPr/>
          <p:nvPr/>
        </p:nvSpPr>
        <p:spPr>
          <a:xfrm>
            <a:off x="0" y="3086100"/>
            <a:ext cx="9144000" cy="266319"/>
          </a:xfrm>
          <a:prstGeom prst="rect">
            <a:avLst/>
          </a:prstGeom>
          <a:solidFill>
            <a:srgbClr val="1C1F4A"/>
          </a:solidFill>
          <a:ln/>
        </p:spPr>
      </p:sp>
      <p:sp>
        <p:nvSpPr>
          <p:cNvPr id="15" name="Shape 13"/>
          <p:cNvSpPr/>
          <p:nvPr/>
        </p:nvSpPr>
        <p:spPr>
          <a:xfrm>
            <a:off x="0" y="3343275"/>
            <a:ext cx="9144000" cy="266319"/>
          </a:xfrm>
          <a:prstGeom prst="rect">
            <a:avLst/>
          </a:prstGeom>
          <a:solidFill>
            <a:srgbClr val="1A1E45"/>
          </a:solidFill>
          <a:ln/>
        </p:spPr>
      </p:sp>
      <p:sp>
        <p:nvSpPr>
          <p:cNvPr id="16" name="Shape 14"/>
          <p:cNvSpPr/>
          <p:nvPr/>
        </p:nvSpPr>
        <p:spPr>
          <a:xfrm>
            <a:off x="0" y="3600450"/>
            <a:ext cx="9144000" cy="266319"/>
          </a:xfrm>
          <a:prstGeom prst="rect">
            <a:avLst/>
          </a:prstGeom>
          <a:solidFill>
            <a:srgbClr val="181D41"/>
          </a:solidFill>
          <a:ln/>
        </p:spPr>
      </p:sp>
      <p:sp>
        <p:nvSpPr>
          <p:cNvPr id="17" name="Shape 15"/>
          <p:cNvSpPr/>
          <p:nvPr/>
        </p:nvSpPr>
        <p:spPr>
          <a:xfrm>
            <a:off x="0" y="3857625"/>
            <a:ext cx="9144000" cy="266319"/>
          </a:xfrm>
          <a:prstGeom prst="rect">
            <a:avLst/>
          </a:prstGeom>
          <a:solidFill>
            <a:srgbClr val="161C3C"/>
          </a:solidFill>
          <a:ln/>
        </p:spPr>
      </p:sp>
      <p:sp>
        <p:nvSpPr>
          <p:cNvPr id="18" name="Shape 16"/>
          <p:cNvSpPr/>
          <p:nvPr/>
        </p:nvSpPr>
        <p:spPr>
          <a:xfrm>
            <a:off x="0" y="4114800"/>
            <a:ext cx="9144000" cy="266319"/>
          </a:xfrm>
          <a:prstGeom prst="rect">
            <a:avLst/>
          </a:prstGeom>
          <a:solidFill>
            <a:srgbClr val="141B38"/>
          </a:solidFill>
          <a:ln/>
        </p:spPr>
      </p:sp>
      <p:sp>
        <p:nvSpPr>
          <p:cNvPr id="19" name="Shape 17"/>
          <p:cNvSpPr/>
          <p:nvPr/>
        </p:nvSpPr>
        <p:spPr>
          <a:xfrm>
            <a:off x="0" y="4371975"/>
            <a:ext cx="9144000" cy="266319"/>
          </a:xfrm>
          <a:prstGeom prst="rect">
            <a:avLst/>
          </a:prstGeom>
          <a:solidFill>
            <a:srgbClr val="131933"/>
          </a:solidFill>
          <a:ln/>
        </p:spPr>
      </p:sp>
      <p:sp>
        <p:nvSpPr>
          <p:cNvPr id="20" name="Shape 18"/>
          <p:cNvSpPr/>
          <p:nvPr/>
        </p:nvSpPr>
        <p:spPr>
          <a:xfrm>
            <a:off x="0" y="4629150"/>
            <a:ext cx="9144000" cy="266319"/>
          </a:xfrm>
          <a:prstGeom prst="rect">
            <a:avLst/>
          </a:prstGeom>
          <a:solidFill>
            <a:srgbClr val="11182F"/>
          </a:solidFill>
          <a:ln/>
        </p:spPr>
      </p:sp>
      <p:sp>
        <p:nvSpPr>
          <p:cNvPr id="21" name="Shape 19"/>
          <p:cNvSpPr/>
          <p:nvPr/>
        </p:nvSpPr>
        <p:spPr>
          <a:xfrm>
            <a:off x="0" y="4886325"/>
            <a:ext cx="9144000" cy="266319"/>
          </a:xfrm>
          <a:prstGeom prst="rect">
            <a:avLst/>
          </a:prstGeom>
          <a:solidFill>
            <a:srgbClr val="0F172A"/>
          </a:solidFill>
          <a:ln/>
        </p:spPr>
      </p:sp>
      <p:sp>
        <p:nvSpPr>
          <p:cNvPr id="22" name="Shape 20"/>
          <p:cNvSpPr/>
          <p:nvPr/>
        </p:nvSpPr>
        <p:spPr>
          <a:xfrm>
            <a:off x="0" y="0"/>
            <a:ext cx="9144000" cy="92583"/>
          </a:xfrm>
          <a:prstGeom prst="rect">
            <a:avLst/>
          </a:prstGeom>
          <a:solidFill>
            <a:srgbClr val="FBBF24"/>
          </a:solidFill>
          <a:ln/>
        </p:spPr>
      </p:sp>
      <p:sp>
        <p:nvSpPr>
          <p:cNvPr id="23" name="Text 21"/>
          <p:cNvSpPr/>
          <p:nvPr/>
        </p:nvSpPr>
        <p:spPr>
          <a:xfrm>
            <a:off x="457200" y="257175"/>
            <a:ext cx="8229600" cy="617220"/>
          </a:xfrm>
          <a:prstGeom prst="rect">
            <a:avLst/>
          </a:prstGeom>
          <a:noFill/>
          <a:ln/>
        </p:spPr>
        <p:txBody>
          <a:bodyPr wrap="square" rtlCol="0" anchor="t"/>
          <a:lstStyle/>
          <a:p>
            <a:pPr algn="ctr" indent="0" marL="0">
              <a:buNone/>
            </a:pPr>
            <a:r>
              <a:rPr lang="en-US" sz="2700" b="1" dirty="0">
                <a:solidFill>
                  <a:srgbClr val="FFFFFF"/>
                </a:solidFill>
                <a:latin typeface="Poppins" pitchFamily="34" charset="0"/>
                <a:ea typeface="Poppins" pitchFamily="34" charset="-122"/>
                <a:cs typeface="Poppins" pitchFamily="34" charset="-120"/>
              </a:rPr>
              <a:t>The Trajectory of a Pursuing Father</a:t>
            </a:r>
            <a:endParaRPr lang="en-US" sz="2700" dirty="0"/>
          </a:p>
        </p:txBody>
      </p:sp>
      <p:sp>
        <p:nvSpPr>
          <p:cNvPr id="24" name="Shape 22"/>
          <p:cNvSpPr/>
          <p:nvPr/>
        </p:nvSpPr>
        <p:spPr>
          <a:xfrm>
            <a:off x="731520" y="3086100"/>
            <a:ext cx="7680960" cy="36004"/>
          </a:xfrm>
          <a:prstGeom prst="rect">
            <a:avLst/>
          </a:prstGeom>
          <a:solidFill>
            <a:srgbClr val="FBBF24"/>
          </a:solidFill>
          <a:ln/>
        </p:spPr>
      </p:sp>
      <p:sp>
        <p:nvSpPr>
          <p:cNvPr id="25" name="Shape 23"/>
          <p:cNvSpPr/>
          <p:nvPr/>
        </p:nvSpPr>
        <p:spPr>
          <a:xfrm>
            <a:off x="594360" y="2957512"/>
            <a:ext cx="320040" cy="308610"/>
          </a:xfrm>
          <a:prstGeom prst="ellipse">
            <a:avLst/>
          </a:prstGeom>
          <a:solidFill>
            <a:srgbClr val="FBBF24"/>
          </a:solidFill>
          <a:ln/>
        </p:spPr>
      </p:sp>
      <p:sp>
        <p:nvSpPr>
          <p:cNvPr id="26" name="Shape 24"/>
          <p:cNvSpPr/>
          <p:nvPr/>
        </p:nvSpPr>
        <p:spPr>
          <a:xfrm>
            <a:off x="713232" y="2468880"/>
            <a:ext cx="36576" cy="514350"/>
          </a:xfrm>
          <a:prstGeom prst="rect">
            <a:avLst/>
          </a:prstGeom>
          <a:solidFill>
            <a:srgbClr val="FBBF24"/>
          </a:solidFill>
          <a:ln/>
        </p:spPr>
      </p:sp>
      <p:sp>
        <p:nvSpPr>
          <p:cNvPr id="27" name="Text 25"/>
          <p:cNvSpPr/>
          <p:nvPr/>
        </p:nvSpPr>
        <p:spPr>
          <a:xfrm>
            <a:off x="274320" y="1748790"/>
            <a:ext cx="914400" cy="308610"/>
          </a:xfrm>
          <a:prstGeom prst="rect">
            <a:avLst/>
          </a:prstGeom>
          <a:noFill/>
          <a:ln/>
        </p:spPr>
        <p:txBody>
          <a:bodyPr wrap="square" rtlCol="0" anchor="ctr"/>
          <a:lstStyle/>
          <a:p>
            <a:pPr algn="ctr" indent="0" marL="0">
              <a:buNone/>
            </a:pPr>
            <a:r>
              <a:rPr lang="en-US" sz="1000" b="1" dirty="0">
                <a:solidFill>
                  <a:srgbClr val="FBBF24"/>
                </a:solidFill>
                <a:latin typeface="Poppins" pitchFamily="34" charset="0"/>
                <a:ea typeface="Poppins" pitchFamily="34" charset="-122"/>
                <a:cs typeface="Poppins" pitchFamily="34" charset="-120"/>
              </a:rPr>
              <a:t>Genesis 2</a:t>
            </a:r>
            <a:endParaRPr lang="en-US" sz="1000" dirty="0"/>
          </a:p>
        </p:txBody>
      </p:sp>
      <p:sp>
        <p:nvSpPr>
          <p:cNvPr id="28" name="Text 26"/>
          <p:cNvSpPr/>
          <p:nvPr/>
        </p:nvSpPr>
        <p:spPr>
          <a:xfrm>
            <a:off x="182880" y="1337310"/>
            <a:ext cx="1097280" cy="411480"/>
          </a:xfrm>
          <a:prstGeom prst="rect">
            <a:avLst/>
          </a:prstGeom>
          <a:noFill/>
          <a:ln/>
        </p:spPr>
        <p:txBody>
          <a:bodyPr wrap="square"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Eden</a:t>
            </a:r>
            <a:endParaRPr lang="en-US" sz="1200" dirty="0"/>
          </a:p>
        </p:txBody>
      </p:sp>
      <p:sp>
        <p:nvSpPr>
          <p:cNvPr id="29" name="Text 27"/>
          <p:cNvSpPr/>
          <p:nvPr/>
        </p:nvSpPr>
        <p:spPr>
          <a:xfrm>
            <a:off x="91440" y="925830"/>
            <a:ext cx="1280160" cy="617220"/>
          </a:xfrm>
          <a:prstGeom prst="rect">
            <a:avLst/>
          </a:prstGeom>
          <a:noFill/>
          <a:ln/>
        </p:spPr>
        <p:txBody>
          <a:bodyPr wrap="square" rtlCol="0" anchor="t"/>
          <a:lstStyle/>
          <a:p>
            <a:pPr algn="ctr" indent="0" marL="0">
              <a:buNone/>
            </a:pPr>
            <a:r>
              <a:rPr lang="en-US" sz="900" dirty="0">
                <a:solidFill>
                  <a:srgbClr val="FBBF24"/>
                </a:solidFill>
                <a:latin typeface="Poppins" pitchFamily="34" charset="0"/>
                <a:ea typeface="Poppins" pitchFamily="34" charset="-122"/>
                <a:cs typeface="Poppins" pitchFamily="34" charset="-120"/>
              </a:rPr>
              <a:t>God walks with humanity face to face</a:t>
            </a:r>
            <a:endParaRPr lang="en-US" sz="900" dirty="0"/>
          </a:p>
        </p:txBody>
      </p:sp>
      <p:sp>
        <p:nvSpPr>
          <p:cNvPr id="30" name="Shape 28"/>
          <p:cNvSpPr/>
          <p:nvPr/>
        </p:nvSpPr>
        <p:spPr>
          <a:xfrm>
            <a:off x="2130552" y="2957512"/>
            <a:ext cx="320040" cy="308610"/>
          </a:xfrm>
          <a:prstGeom prst="ellipse">
            <a:avLst/>
          </a:prstGeom>
          <a:solidFill>
            <a:srgbClr val="FBBF24"/>
          </a:solidFill>
          <a:ln/>
        </p:spPr>
      </p:sp>
      <p:sp>
        <p:nvSpPr>
          <p:cNvPr id="31" name="Shape 29"/>
          <p:cNvSpPr/>
          <p:nvPr/>
        </p:nvSpPr>
        <p:spPr>
          <a:xfrm>
            <a:off x="2249424" y="3137535"/>
            <a:ext cx="36576" cy="514350"/>
          </a:xfrm>
          <a:prstGeom prst="rect">
            <a:avLst/>
          </a:prstGeom>
          <a:solidFill>
            <a:srgbClr val="FBBF24"/>
          </a:solidFill>
          <a:ln/>
        </p:spPr>
      </p:sp>
      <p:sp>
        <p:nvSpPr>
          <p:cNvPr id="32" name="Text 30"/>
          <p:cNvSpPr/>
          <p:nvPr/>
        </p:nvSpPr>
        <p:spPr>
          <a:xfrm>
            <a:off x="1810512" y="3703320"/>
            <a:ext cx="914400" cy="308610"/>
          </a:xfrm>
          <a:prstGeom prst="rect">
            <a:avLst/>
          </a:prstGeom>
          <a:noFill/>
          <a:ln/>
        </p:spPr>
        <p:txBody>
          <a:bodyPr wrap="square" rtlCol="0" anchor="ctr"/>
          <a:lstStyle/>
          <a:p>
            <a:pPr algn="ctr" indent="0" marL="0">
              <a:buNone/>
            </a:pPr>
            <a:r>
              <a:rPr lang="en-US" sz="1000" b="1" dirty="0">
                <a:solidFill>
                  <a:srgbClr val="FBBF24"/>
                </a:solidFill>
                <a:latin typeface="Poppins" pitchFamily="34" charset="0"/>
                <a:ea typeface="Poppins" pitchFamily="34" charset="-122"/>
                <a:cs typeface="Poppins" pitchFamily="34" charset="-120"/>
              </a:rPr>
              <a:t>Genesis 3</a:t>
            </a:r>
            <a:endParaRPr lang="en-US" sz="1000" dirty="0"/>
          </a:p>
        </p:txBody>
      </p:sp>
      <p:sp>
        <p:nvSpPr>
          <p:cNvPr id="33" name="Text 31"/>
          <p:cNvSpPr/>
          <p:nvPr/>
        </p:nvSpPr>
        <p:spPr>
          <a:xfrm>
            <a:off x="1719072" y="4011930"/>
            <a:ext cx="1097280" cy="411480"/>
          </a:xfrm>
          <a:prstGeom prst="rect">
            <a:avLst/>
          </a:prstGeom>
          <a:noFill/>
          <a:ln/>
        </p:spPr>
        <p:txBody>
          <a:bodyPr wrap="square"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The Fall</a:t>
            </a:r>
            <a:endParaRPr lang="en-US" sz="1200" dirty="0"/>
          </a:p>
        </p:txBody>
      </p:sp>
      <p:sp>
        <p:nvSpPr>
          <p:cNvPr id="34" name="Text 32"/>
          <p:cNvSpPr/>
          <p:nvPr/>
        </p:nvSpPr>
        <p:spPr>
          <a:xfrm>
            <a:off x="1627632" y="4423410"/>
            <a:ext cx="1280160" cy="617220"/>
          </a:xfrm>
          <a:prstGeom prst="rect">
            <a:avLst/>
          </a:prstGeom>
          <a:noFill/>
          <a:ln/>
        </p:spPr>
        <p:txBody>
          <a:bodyPr wrap="square" rtlCol="0" anchor="t"/>
          <a:lstStyle/>
          <a:p>
            <a:pPr algn="ctr" indent="0" marL="0">
              <a:buNone/>
            </a:pPr>
            <a:r>
              <a:rPr lang="en-US" sz="900" dirty="0">
                <a:solidFill>
                  <a:srgbClr val="FBBF24"/>
                </a:solidFill>
                <a:latin typeface="Poppins" pitchFamily="34" charset="0"/>
                <a:ea typeface="Poppins" pitchFamily="34" charset="-122"/>
                <a:cs typeface="Poppins" pitchFamily="34" charset="-120"/>
              </a:rPr>
              <a:t>Sin creates distance; a barrier of shame and separation</a:t>
            </a:r>
            <a:endParaRPr lang="en-US" sz="900" dirty="0"/>
          </a:p>
        </p:txBody>
      </p:sp>
      <p:sp>
        <p:nvSpPr>
          <p:cNvPr id="35" name="Shape 33"/>
          <p:cNvSpPr/>
          <p:nvPr/>
        </p:nvSpPr>
        <p:spPr>
          <a:xfrm>
            <a:off x="3666744" y="2957512"/>
            <a:ext cx="320040" cy="308610"/>
          </a:xfrm>
          <a:prstGeom prst="ellipse">
            <a:avLst/>
          </a:prstGeom>
          <a:solidFill>
            <a:srgbClr val="FBBF24"/>
          </a:solidFill>
          <a:ln/>
        </p:spPr>
      </p:sp>
      <p:sp>
        <p:nvSpPr>
          <p:cNvPr id="36" name="Shape 34"/>
          <p:cNvSpPr/>
          <p:nvPr/>
        </p:nvSpPr>
        <p:spPr>
          <a:xfrm>
            <a:off x="3785616" y="2468880"/>
            <a:ext cx="36576" cy="514350"/>
          </a:xfrm>
          <a:prstGeom prst="rect">
            <a:avLst/>
          </a:prstGeom>
          <a:solidFill>
            <a:srgbClr val="FBBF24"/>
          </a:solidFill>
          <a:ln/>
        </p:spPr>
      </p:sp>
      <p:sp>
        <p:nvSpPr>
          <p:cNvPr id="37" name="Text 35"/>
          <p:cNvSpPr/>
          <p:nvPr/>
        </p:nvSpPr>
        <p:spPr>
          <a:xfrm>
            <a:off x="3346704" y="1748790"/>
            <a:ext cx="914400" cy="308610"/>
          </a:xfrm>
          <a:prstGeom prst="rect">
            <a:avLst/>
          </a:prstGeom>
          <a:noFill/>
          <a:ln/>
        </p:spPr>
        <p:txBody>
          <a:bodyPr wrap="square" rtlCol="0" anchor="ctr"/>
          <a:lstStyle/>
          <a:p>
            <a:pPr algn="ctr" indent="0" marL="0">
              <a:buNone/>
            </a:pPr>
            <a:r>
              <a:rPr lang="en-US" sz="1000" b="1" dirty="0">
                <a:solidFill>
                  <a:srgbClr val="FBBF24"/>
                </a:solidFill>
                <a:latin typeface="Poppins" pitchFamily="34" charset="0"/>
                <a:ea typeface="Poppins" pitchFamily="34" charset="-122"/>
                <a:cs typeface="Poppins" pitchFamily="34" charset="-120"/>
              </a:rPr>
              <a:t>Genesis 3:15 &amp; 17</a:t>
            </a:r>
            <a:endParaRPr lang="en-US" sz="1000" dirty="0"/>
          </a:p>
        </p:txBody>
      </p:sp>
      <p:sp>
        <p:nvSpPr>
          <p:cNvPr id="38" name="Text 36"/>
          <p:cNvSpPr/>
          <p:nvPr/>
        </p:nvSpPr>
        <p:spPr>
          <a:xfrm>
            <a:off x="3255264" y="1337310"/>
            <a:ext cx="1097280" cy="411480"/>
          </a:xfrm>
          <a:prstGeom prst="rect">
            <a:avLst/>
          </a:prstGeom>
          <a:noFill/>
          <a:ln/>
        </p:spPr>
        <p:txBody>
          <a:bodyPr wrap="square"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The Promise</a:t>
            </a:r>
            <a:endParaRPr lang="en-US" sz="1200" dirty="0"/>
          </a:p>
        </p:txBody>
      </p:sp>
      <p:sp>
        <p:nvSpPr>
          <p:cNvPr id="39" name="Text 37"/>
          <p:cNvSpPr/>
          <p:nvPr/>
        </p:nvSpPr>
        <p:spPr>
          <a:xfrm>
            <a:off x="3163824" y="925830"/>
            <a:ext cx="1280160" cy="617220"/>
          </a:xfrm>
          <a:prstGeom prst="rect">
            <a:avLst/>
          </a:prstGeom>
          <a:noFill/>
          <a:ln/>
        </p:spPr>
        <p:txBody>
          <a:bodyPr wrap="square" rtlCol="0" anchor="t"/>
          <a:lstStyle/>
          <a:p>
            <a:pPr algn="ctr" indent="0" marL="0">
              <a:buNone/>
            </a:pPr>
            <a:r>
              <a:rPr lang="en-US" sz="900" dirty="0">
                <a:solidFill>
                  <a:srgbClr val="FBBF24"/>
                </a:solidFill>
                <a:latin typeface="Poppins" pitchFamily="34" charset="0"/>
                <a:ea typeface="Poppins" pitchFamily="34" charset="-122"/>
                <a:cs typeface="Poppins" pitchFamily="34" charset="-120"/>
              </a:rPr>
              <a:t>God promises a rescuer and binds Himself in covenant</a:t>
            </a:r>
            <a:endParaRPr lang="en-US" sz="900" dirty="0"/>
          </a:p>
        </p:txBody>
      </p:sp>
      <p:sp>
        <p:nvSpPr>
          <p:cNvPr id="40" name="Shape 38"/>
          <p:cNvSpPr/>
          <p:nvPr/>
        </p:nvSpPr>
        <p:spPr>
          <a:xfrm>
            <a:off x="5202936" y="2957512"/>
            <a:ext cx="320040" cy="308610"/>
          </a:xfrm>
          <a:prstGeom prst="ellipse">
            <a:avLst/>
          </a:prstGeom>
          <a:solidFill>
            <a:srgbClr val="FBBF24"/>
          </a:solidFill>
          <a:ln/>
        </p:spPr>
      </p:sp>
      <p:sp>
        <p:nvSpPr>
          <p:cNvPr id="41" name="Shape 39"/>
          <p:cNvSpPr/>
          <p:nvPr/>
        </p:nvSpPr>
        <p:spPr>
          <a:xfrm>
            <a:off x="5321808" y="3137535"/>
            <a:ext cx="36576" cy="514350"/>
          </a:xfrm>
          <a:prstGeom prst="rect">
            <a:avLst/>
          </a:prstGeom>
          <a:solidFill>
            <a:srgbClr val="FBBF24"/>
          </a:solidFill>
          <a:ln/>
        </p:spPr>
      </p:sp>
      <p:sp>
        <p:nvSpPr>
          <p:cNvPr id="42" name="Text 40"/>
          <p:cNvSpPr/>
          <p:nvPr/>
        </p:nvSpPr>
        <p:spPr>
          <a:xfrm>
            <a:off x="4882896" y="3703320"/>
            <a:ext cx="914400" cy="308610"/>
          </a:xfrm>
          <a:prstGeom prst="rect">
            <a:avLst/>
          </a:prstGeom>
          <a:noFill/>
          <a:ln/>
        </p:spPr>
        <p:txBody>
          <a:bodyPr wrap="square" rtlCol="0" anchor="ctr"/>
          <a:lstStyle/>
          <a:p>
            <a:pPr algn="ctr" indent="0" marL="0">
              <a:buNone/>
            </a:pPr>
            <a:r>
              <a:rPr lang="en-US" sz="1000" b="1" dirty="0">
                <a:solidFill>
                  <a:srgbClr val="FBBF24"/>
                </a:solidFill>
                <a:latin typeface="NotoSans-Bold" pitchFamily="34" charset="0"/>
                <a:ea typeface="NotoSans-Bold" pitchFamily="34" charset="-122"/>
                <a:cs typeface="NotoSans-Bold" pitchFamily="34" charset="-120"/>
              </a:rPr>
              <a:t>Exodus – Kings</a:t>
            </a:r>
            <a:endParaRPr lang="en-US" sz="1000" dirty="0"/>
          </a:p>
        </p:txBody>
      </p:sp>
      <p:sp>
        <p:nvSpPr>
          <p:cNvPr id="43" name="Text 41"/>
          <p:cNvSpPr/>
          <p:nvPr/>
        </p:nvSpPr>
        <p:spPr>
          <a:xfrm>
            <a:off x="4791456" y="4011930"/>
            <a:ext cx="1097280" cy="411480"/>
          </a:xfrm>
          <a:prstGeom prst="rect">
            <a:avLst/>
          </a:prstGeom>
          <a:noFill/>
          <a:ln/>
        </p:spPr>
        <p:txBody>
          <a:bodyPr wrap="square"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Tabernacle &amp; Temple</a:t>
            </a:r>
            <a:endParaRPr lang="en-US" sz="1200" dirty="0"/>
          </a:p>
        </p:txBody>
      </p:sp>
      <p:sp>
        <p:nvSpPr>
          <p:cNvPr id="44" name="Text 42"/>
          <p:cNvSpPr/>
          <p:nvPr/>
        </p:nvSpPr>
        <p:spPr>
          <a:xfrm>
            <a:off x="4700016" y="4423410"/>
            <a:ext cx="1280160" cy="617220"/>
          </a:xfrm>
          <a:prstGeom prst="rect">
            <a:avLst/>
          </a:prstGeom>
          <a:noFill/>
          <a:ln/>
        </p:spPr>
        <p:txBody>
          <a:bodyPr wrap="square" rtlCol="0" anchor="t"/>
          <a:lstStyle/>
          <a:p>
            <a:pPr algn="ctr" indent="0" marL="0">
              <a:buNone/>
            </a:pPr>
            <a:r>
              <a:rPr lang="en-US" sz="900" dirty="0">
                <a:solidFill>
                  <a:srgbClr val="FBBF24"/>
                </a:solidFill>
                <a:latin typeface="Poppins" pitchFamily="34" charset="0"/>
                <a:ea typeface="Poppins" pitchFamily="34" charset="-122"/>
                <a:cs typeface="Poppins" pitchFamily="34" charset="-120"/>
              </a:rPr>
              <a:t>God moves His dwelling into the camp of His people</a:t>
            </a:r>
            <a:endParaRPr lang="en-US" sz="900" dirty="0"/>
          </a:p>
        </p:txBody>
      </p:sp>
      <p:sp>
        <p:nvSpPr>
          <p:cNvPr id="45" name="Shape 43"/>
          <p:cNvSpPr/>
          <p:nvPr/>
        </p:nvSpPr>
        <p:spPr>
          <a:xfrm>
            <a:off x="6739128" y="2957512"/>
            <a:ext cx="320040" cy="308610"/>
          </a:xfrm>
          <a:prstGeom prst="ellipse">
            <a:avLst/>
          </a:prstGeom>
          <a:solidFill>
            <a:srgbClr val="FBBF24"/>
          </a:solidFill>
          <a:ln/>
        </p:spPr>
      </p:sp>
      <p:sp>
        <p:nvSpPr>
          <p:cNvPr id="46" name="Shape 44"/>
          <p:cNvSpPr/>
          <p:nvPr/>
        </p:nvSpPr>
        <p:spPr>
          <a:xfrm>
            <a:off x="6858000" y="2468880"/>
            <a:ext cx="36576" cy="514350"/>
          </a:xfrm>
          <a:prstGeom prst="rect">
            <a:avLst/>
          </a:prstGeom>
          <a:solidFill>
            <a:srgbClr val="FBBF24"/>
          </a:solidFill>
          <a:ln/>
        </p:spPr>
      </p:sp>
      <p:sp>
        <p:nvSpPr>
          <p:cNvPr id="47" name="Text 45"/>
          <p:cNvSpPr/>
          <p:nvPr/>
        </p:nvSpPr>
        <p:spPr>
          <a:xfrm>
            <a:off x="6419088" y="1748790"/>
            <a:ext cx="914400" cy="308610"/>
          </a:xfrm>
          <a:prstGeom prst="rect">
            <a:avLst/>
          </a:prstGeom>
          <a:noFill/>
          <a:ln/>
        </p:spPr>
        <p:txBody>
          <a:bodyPr wrap="square" rtlCol="0" anchor="ctr"/>
          <a:lstStyle/>
          <a:p>
            <a:pPr algn="ctr" indent="0" marL="0">
              <a:buNone/>
            </a:pPr>
            <a:r>
              <a:rPr lang="en-US" sz="1000" b="1" dirty="0">
                <a:solidFill>
                  <a:srgbClr val="FBBF24"/>
                </a:solidFill>
                <a:latin typeface="Poppins" pitchFamily="34" charset="0"/>
                <a:ea typeface="Poppins" pitchFamily="34" charset="-122"/>
                <a:cs typeface="Poppins" pitchFamily="34" charset="-120"/>
              </a:rPr>
              <a:t>Matthew 1:23</a:t>
            </a:r>
            <a:endParaRPr lang="en-US" sz="1000" dirty="0"/>
          </a:p>
        </p:txBody>
      </p:sp>
      <p:sp>
        <p:nvSpPr>
          <p:cNvPr id="48" name="Text 46"/>
          <p:cNvSpPr/>
          <p:nvPr/>
        </p:nvSpPr>
        <p:spPr>
          <a:xfrm>
            <a:off x="6327648" y="1337310"/>
            <a:ext cx="1097280" cy="411480"/>
          </a:xfrm>
          <a:prstGeom prst="rect">
            <a:avLst/>
          </a:prstGeom>
          <a:noFill/>
          <a:ln/>
        </p:spPr>
        <p:txBody>
          <a:bodyPr wrap="square"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Immanuel</a:t>
            </a:r>
            <a:endParaRPr lang="en-US" sz="1200" dirty="0"/>
          </a:p>
        </p:txBody>
      </p:sp>
      <p:sp>
        <p:nvSpPr>
          <p:cNvPr id="49" name="Text 47"/>
          <p:cNvSpPr/>
          <p:nvPr/>
        </p:nvSpPr>
        <p:spPr>
          <a:xfrm>
            <a:off x="6236208" y="925830"/>
            <a:ext cx="1280160" cy="617220"/>
          </a:xfrm>
          <a:prstGeom prst="rect">
            <a:avLst/>
          </a:prstGeom>
          <a:noFill/>
          <a:ln/>
        </p:spPr>
        <p:txBody>
          <a:bodyPr wrap="square" rtlCol="0" anchor="t"/>
          <a:lstStyle/>
          <a:p>
            <a:pPr algn="ctr" indent="0" marL="0">
              <a:buNone/>
            </a:pPr>
            <a:r>
              <a:rPr lang="en-US" sz="900" dirty="0">
                <a:solidFill>
                  <a:srgbClr val="FBBF24"/>
                </a:solidFill>
                <a:latin typeface="NotoSans" pitchFamily="34" charset="0"/>
                <a:ea typeface="NotoSans" pitchFamily="34" charset="-122"/>
                <a:cs typeface="NotoSans" pitchFamily="34" charset="-120"/>
              </a:rPr>
              <a:t>God becomes flesh — 'God with us' in the most personal way</a:t>
            </a:r>
            <a:endParaRPr lang="en-US" sz="900" dirty="0"/>
          </a:p>
        </p:txBody>
      </p:sp>
      <p:sp>
        <p:nvSpPr>
          <p:cNvPr id="50" name="Shape 48"/>
          <p:cNvSpPr/>
          <p:nvPr/>
        </p:nvSpPr>
        <p:spPr>
          <a:xfrm>
            <a:off x="8275320" y="2957512"/>
            <a:ext cx="320040" cy="308610"/>
          </a:xfrm>
          <a:prstGeom prst="ellipse">
            <a:avLst/>
          </a:prstGeom>
          <a:solidFill>
            <a:srgbClr val="FBBF24"/>
          </a:solidFill>
          <a:ln/>
        </p:spPr>
      </p:sp>
      <p:sp>
        <p:nvSpPr>
          <p:cNvPr id="51" name="Shape 49"/>
          <p:cNvSpPr/>
          <p:nvPr/>
        </p:nvSpPr>
        <p:spPr>
          <a:xfrm>
            <a:off x="8394192" y="3137535"/>
            <a:ext cx="36576" cy="514350"/>
          </a:xfrm>
          <a:prstGeom prst="rect">
            <a:avLst/>
          </a:prstGeom>
          <a:solidFill>
            <a:srgbClr val="FBBF24"/>
          </a:solidFill>
          <a:ln/>
        </p:spPr>
      </p:sp>
      <p:sp>
        <p:nvSpPr>
          <p:cNvPr id="52" name="Text 50"/>
          <p:cNvSpPr/>
          <p:nvPr/>
        </p:nvSpPr>
        <p:spPr>
          <a:xfrm>
            <a:off x="7955280" y="3703320"/>
            <a:ext cx="914400" cy="308610"/>
          </a:xfrm>
          <a:prstGeom prst="rect">
            <a:avLst/>
          </a:prstGeom>
          <a:noFill/>
          <a:ln/>
        </p:spPr>
        <p:txBody>
          <a:bodyPr wrap="square" rtlCol="0" anchor="ctr"/>
          <a:lstStyle/>
          <a:p>
            <a:pPr algn="ctr" indent="0" marL="0">
              <a:buNone/>
            </a:pPr>
            <a:r>
              <a:rPr lang="en-US" sz="1000" b="1" dirty="0">
                <a:solidFill>
                  <a:srgbClr val="FBBF24"/>
                </a:solidFill>
                <a:latin typeface="Poppins" pitchFamily="34" charset="0"/>
                <a:ea typeface="Poppins" pitchFamily="34" charset="-122"/>
                <a:cs typeface="Poppins" pitchFamily="34" charset="-120"/>
              </a:rPr>
              <a:t>Revelation 21</a:t>
            </a:r>
            <a:endParaRPr lang="en-US" sz="1000" dirty="0"/>
          </a:p>
        </p:txBody>
      </p:sp>
      <p:sp>
        <p:nvSpPr>
          <p:cNvPr id="53" name="Text 51"/>
          <p:cNvSpPr/>
          <p:nvPr/>
        </p:nvSpPr>
        <p:spPr>
          <a:xfrm>
            <a:off x="7863840" y="4011930"/>
            <a:ext cx="1097280" cy="411480"/>
          </a:xfrm>
          <a:prstGeom prst="rect">
            <a:avLst/>
          </a:prstGeom>
          <a:noFill/>
          <a:ln/>
        </p:spPr>
        <p:txBody>
          <a:bodyPr wrap="square"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New Jerusalem</a:t>
            </a:r>
            <a:endParaRPr lang="en-US" sz="1200" dirty="0"/>
          </a:p>
        </p:txBody>
      </p:sp>
      <p:sp>
        <p:nvSpPr>
          <p:cNvPr id="54" name="Text 52"/>
          <p:cNvSpPr/>
          <p:nvPr/>
        </p:nvSpPr>
        <p:spPr>
          <a:xfrm>
            <a:off x="7772400" y="4423410"/>
            <a:ext cx="1280160" cy="617220"/>
          </a:xfrm>
          <a:prstGeom prst="rect">
            <a:avLst/>
          </a:prstGeom>
          <a:noFill/>
          <a:ln/>
        </p:spPr>
        <p:txBody>
          <a:bodyPr wrap="square" rtlCol="0" anchor="t"/>
          <a:lstStyle/>
          <a:p>
            <a:pPr algn="ctr" indent="0" marL="0">
              <a:buNone/>
            </a:pPr>
            <a:r>
              <a:rPr lang="en-US" sz="900" dirty="0">
                <a:solidFill>
                  <a:srgbClr val="FBBF24"/>
                </a:solidFill>
                <a:latin typeface="Poppins" pitchFamily="34" charset="0"/>
                <a:ea typeface="Poppins" pitchFamily="34" charset="-122"/>
                <a:cs typeface="Poppins" pitchFamily="34" charset="-120"/>
              </a:rPr>
              <a:t>God dwells with humanity forever; the garden is restored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4572000" y="0"/>
            <a:ext cx="4572000" cy="5143500"/>
          </a:xfrm>
          <a:prstGeom prst="rect">
            <a:avLst/>
          </a:prstGeom>
        </p:spPr>
      </p:pic>
      <p:sp>
        <p:nvSpPr>
          <p:cNvPr id="4" name="Text 1"/>
          <p:cNvSpPr/>
          <p:nvPr/>
        </p:nvSpPr>
        <p:spPr>
          <a:xfrm>
            <a:off x="457200" y="462915"/>
            <a:ext cx="3840480" cy="925449"/>
          </a:xfrm>
          <a:prstGeom prst="rect">
            <a:avLst/>
          </a:prstGeom>
          <a:noFill/>
          <a:ln/>
        </p:spPr>
        <p:txBody>
          <a:bodyPr wrap="square" rtlCol="0" anchor="t"/>
          <a:lstStyle/>
          <a:p>
            <a:pPr algn="l" indent="0" marL="0">
              <a:buNone/>
            </a:pPr>
            <a:r>
              <a:rPr lang="en-US" sz="2200" b="1" dirty="0">
                <a:solidFill>
                  <a:srgbClr val="111827"/>
                </a:solidFill>
                <a:latin typeface="Poppins" pitchFamily="34" charset="0"/>
                <a:ea typeface="Poppins" pitchFamily="34" charset="-122"/>
                <a:cs typeface="Poppins" pitchFamily="34" charset="-120"/>
              </a:rPr>
              <a:t>Immanuel: God With Us in the Flesh</a:t>
            </a:r>
            <a:endParaRPr lang="en-US" sz="2200" dirty="0"/>
          </a:p>
        </p:txBody>
      </p:sp>
      <p:sp>
        <p:nvSpPr>
          <p:cNvPr id="5" name="Text 2"/>
          <p:cNvSpPr/>
          <p:nvPr/>
        </p:nvSpPr>
        <p:spPr>
          <a:xfrm>
            <a:off x="457200" y="1594104"/>
            <a:ext cx="3840480" cy="3086481"/>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 Word became flesh and dwelt among us' (John 1:14)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Literally: 'moved into the neighborhood' — God doesn't just visit, He moves in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Jesus eats with sinners, touches the unclean, welcomes the outcast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 distance from Eden is closing — God is now near enough to touch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AF5FF"/>
          </a:solidFill>
          <a:ln/>
        </p:spPr>
      </p:sp>
      <p:sp>
        <p:nvSpPr>
          <p:cNvPr id="3" name="Shape 1"/>
          <p:cNvSpPr/>
          <p:nvPr/>
        </p:nvSpPr>
        <p:spPr>
          <a:xfrm>
            <a:off x="0" y="257175"/>
            <a:ext cx="9144000" cy="266319"/>
          </a:xfrm>
          <a:prstGeom prst="rect">
            <a:avLst/>
          </a:prstGeom>
          <a:solidFill>
            <a:srgbClr val="FAF5FF"/>
          </a:solidFill>
          <a:ln/>
        </p:spPr>
      </p:sp>
      <p:sp>
        <p:nvSpPr>
          <p:cNvPr id="4" name="Shape 2"/>
          <p:cNvSpPr/>
          <p:nvPr/>
        </p:nvSpPr>
        <p:spPr>
          <a:xfrm>
            <a:off x="0" y="514350"/>
            <a:ext cx="9144000" cy="266319"/>
          </a:xfrm>
          <a:prstGeom prst="rect">
            <a:avLst/>
          </a:prstGeom>
          <a:solidFill>
            <a:srgbClr val="FAF5FF"/>
          </a:solidFill>
          <a:ln/>
        </p:spPr>
      </p:sp>
      <p:sp>
        <p:nvSpPr>
          <p:cNvPr id="5" name="Shape 3"/>
          <p:cNvSpPr/>
          <p:nvPr/>
        </p:nvSpPr>
        <p:spPr>
          <a:xfrm>
            <a:off x="0" y="771525"/>
            <a:ext cx="9144000" cy="266319"/>
          </a:xfrm>
          <a:prstGeom prst="rect">
            <a:avLst/>
          </a:prstGeom>
          <a:solidFill>
            <a:srgbClr val="FAF5FF"/>
          </a:solidFill>
          <a:ln/>
        </p:spPr>
      </p:sp>
      <p:sp>
        <p:nvSpPr>
          <p:cNvPr id="6" name="Shape 4"/>
          <p:cNvSpPr/>
          <p:nvPr/>
        </p:nvSpPr>
        <p:spPr>
          <a:xfrm>
            <a:off x="0" y="1028700"/>
            <a:ext cx="9144000" cy="266319"/>
          </a:xfrm>
          <a:prstGeom prst="rect">
            <a:avLst/>
          </a:prstGeom>
          <a:solidFill>
            <a:srgbClr val="FBF5FF"/>
          </a:solidFill>
          <a:ln/>
        </p:spPr>
      </p:sp>
      <p:sp>
        <p:nvSpPr>
          <p:cNvPr id="7" name="Shape 5"/>
          <p:cNvSpPr/>
          <p:nvPr/>
        </p:nvSpPr>
        <p:spPr>
          <a:xfrm>
            <a:off x="0" y="1285875"/>
            <a:ext cx="9144000" cy="266319"/>
          </a:xfrm>
          <a:prstGeom prst="rect">
            <a:avLst/>
          </a:prstGeom>
          <a:solidFill>
            <a:srgbClr val="FBF5FF"/>
          </a:solidFill>
          <a:ln/>
        </p:spPr>
      </p:sp>
      <p:sp>
        <p:nvSpPr>
          <p:cNvPr id="8" name="Shape 6"/>
          <p:cNvSpPr/>
          <p:nvPr/>
        </p:nvSpPr>
        <p:spPr>
          <a:xfrm>
            <a:off x="0" y="1543050"/>
            <a:ext cx="9144000" cy="266319"/>
          </a:xfrm>
          <a:prstGeom prst="rect">
            <a:avLst/>
          </a:prstGeom>
          <a:solidFill>
            <a:srgbClr val="FBF5FF"/>
          </a:solidFill>
          <a:ln/>
        </p:spPr>
      </p:sp>
      <p:sp>
        <p:nvSpPr>
          <p:cNvPr id="9" name="Shape 7"/>
          <p:cNvSpPr/>
          <p:nvPr/>
        </p:nvSpPr>
        <p:spPr>
          <a:xfrm>
            <a:off x="0" y="1800225"/>
            <a:ext cx="9144000" cy="266319"/>
          </a:xfrm>
          <a:prstGeom prst="rect">
            <a:avLst/>
          </a:prstGeom>
          <a:solidFill>
            <a:srgbClr val="FBF5FF"/>
          </a:solidFill>
          <a:ln/>
        </p:spPr>
      </p:sp>
      <p:sp>
        <p:nvSpPr>
          <p:cNvPr id="10" name="Shape 8"/>
          <p:cNvSpPr/>
          <p:nvPr/>
        </p:nvSpPr>
        <p:spPr>
          <a:xfrm>
            <a:off x="0" y="2057400"/>
            <a:ext cx="9144000" cy="266319"/>
          </a:xfrm>
          <a:prstGeom prst="rect">
            <a:avLst/>
          </a:prstGeom>
          <a:solidFill>
            <a:srgbClr val="FBF5FF"/>
          </a:solidFill>
          <a:ln/>
        </p:spPr>
      </p:sp>
      <p:sp>
        <p:nvSpPr>
          <p:cNvPr id="11" name="Shape 9"/>
          <p:cNvSpPr/>
          <p:nvPr/>
        </p:nvSpPr>
        <p:spPr>
          <a:xfrm>
            <a:off x="0" y="2314575"/>
            <a:ext cx="9144000" cy="266319"/>
          </a:xfrm>
          <a:prstGeom prst="rect">
            <a:avLst/>
          </a:prstGeom>
          <a:solidFill>
            <a:srgbClr val="FBF5FF"/>
          </a:solidFill>
          <a:ln/>
        </p:spPr>
      </p:sp>
      <p:sp>
        <p:nvSpPr>
          <p:cNvPr id="12" name="Shape 10"/>
          <p:cNvSpPr/>
          <p:nvPr/>
        </p:nvSpPr>
        <p:spPr>
          <a:xfrm>
            <a:off x="0" y="2571750"/>
            <a:ext cx="9144000" cy="266319"/>
          </a:xfrm>
          <a:prstGeom prst="rect">
            <a:avLst/>
          </a:prstGeom>
          <a:solidFill>
            <a:srgbClr val="FCF4FF"/>
          </a:solidFill>
          <a:ln/>
        </p:spPr>
      </p:sp>
      <p:sp>
        <p:nvSpPr>
          <p:cNvPr id="13" name="Shape 11"/>
          <p:cNvSpPr/>
          <p:nvPr/>
        </p:nvSpPr>
        <p:spPr>
          <a:xfrm>
            <a:off x="0" y="2828925"/>
            <a:ext cx="9144000" cy="266319"/>
          </a:xfrm>
          <a:prstGeom prst="rect">
            <a:avLst/>
          </a:prstGeom>
          <a:solidFill>
            <a:srgbClr val="FCF4FF"/>
          </a:solidFill>
          <a:ln/>
        </p:spPr>
      </p:sp>
      <p:sp>
        <p:nvSpPr>
          <p:cNvPr id="14" name="Shape 12"/>
          <p:cNvSpPr/>
          <p:nvPr/>
        </p:nvSpPr>
        <p:spPr>
          <a:xfrm>
            <a:off x="0" y="3086100"/>
            <a:ext cx="9144000" cy="266319"/>
          </a:xfrm>
          <a:prstGeom prst="rect">
            <a:avLst/>
          </a:prstGeom>
          <a:solidFill>
            <a:srgbClr val="FCF4FF"/>
          </a:solidFill>
          <a:ln/>
        </p:spPr>
      </p:sp>
      <p:sp>
        <p:nvSpPr>
          <p:cNvPr id="15" name="Shape 13"/>
          <p:cNvSpPr/>
          <p:nvPr/>
        </p:nvSpPr>
        <p:spPr>
          <a:xfrm>
            <a:off x="0" y="3343275"/>
            <a:ext cx="9144000" cy="266319"/>
          </a:xfrm>
          <a:prstGeom prst="rect">
            <a:avLst/>
          </a:prstGeom>
          <a:solidFill>
            <a:srgbClr val="FCF4FF"/>
          </a:solidFill>
          <a:ln/>
        </p:spPr>
      </p:sp>
      <p:sp>
        <p:nvSpPr>
          <p:cNvPr id="16" name="Shape 14"/>
          <p:cNvSpPr/>
          <p:nvPr/>
        </p:nvSpPr>
        <p:spPr>
          <a:xfrm>
            <a:off x="0" y="3600450"/>
            <a:ext cx="9144000" cy="266319"/>
          </a:xfrm>
          <a:prstGeom prst="rect">
            <a:avLst/>
          </a:prstGeom>
          <a:solidFill>
            <a:srgbClr val="FCF4FF"/>
          </a:solidFill>
          <a:ln/>
        </p:spPr>
      </p:sp>
      <p:sp>
        <p:nvSpPr>
          <p:cNvPr id="17" name="Shape 15"/>
          <p:cNvSpPr/>
          <p:nvPr/>
        </p:nvSpPr>
        <p:spPr>
          <a:xfrm>
            <a:off x="0" y="3857625"/>
            <a:ext cx="9144000" cy="266319"/>
          </a:xfrm>
          <a:prstGeom prst="rect">
            <a:avLst/>
          </a:prstGeom>
          <a:solidFill>
            <a:srgbClr val="FCF4FF"/>
          </a:solidFill>
          <a:ln/>
        </p:spPr>
      </p:sp>
      <p:sp>
        <p:nvSpPr>
          <p:cNvPr id="18" name="Shape 16"/>
          <p:cNvSpPr/>
          <p:nvPr/>
        </p:nvSpPr>
        <p:spPr>
          <a:xfrm>
            <a:off x="0" y="4114800"/>
            <a:ext cx="9144000" cy="266319"/>
          </a:xfrm>
          <a:prstGeom prst="rect">
            <a:avLst/>
          </a:prstGeom>
          <a:solidFill>
            <a:srgbClr val="FDF4FF"/>
          </a:solidFill>
          <a:ln/>
        </p:spPr>
      </p:sp>
      <p:sp>
        <p:nvSpPr>
          <p:cNvPr id="19" name="Shape 17"/>
          <p:cNvSpPr/>
          <p:nvPr/>
        </p:nvSpPr>
        <p:spPr>
          <a:xfrm>
            <a:off x="0" y="4371975"/>
            <a:ext cx="9144000" cy="266319"/>
          </a:xfrm>
          <a:prstGeom prst="rect">
            <a:avLst/>
          </a:prstGeom>
          <a:solidFill>
            <a:srgbClr val="FDF4FF"/>
          </a:solidFill>
          <a:ln/>
        </p:spPr>
      </p:sp>
      <p:sp>
        <p:nvSpPr>
          <p:cNvPr id="20" name="Shape 18"/>
          <p:cNvSpPr/>
          <p:nvPr/>
        </p:nvSpPr>
        <p:spPr>
          <a:xfrm>
            <a:off x="0" y="4629150"/>
            <a:ext cx="9144000" cy="266319"/>
          </a:xfrm>
          <a:prstGeom prst="rect">
            <a:avLst/>
          </a:prstGeom>
          <a:solidFill>
            <a:srgbClr val="FDF4FF"/>
          </a:solidFill>
          <a:ln/>
        </p:spPr>
      </p:sp>
      <p:sp>
        <p:nvSpPr>
          <p:cNvPr id="21" name="Shape 19"/>
          <p:cNvSpPr/>
          <p:nvPr/>
        </p:nvSpPr>
        <p:spPr>
          <a:xfrm>
            <a:off x="0" y="4886325"/>
            <a:ext cx="9144000" cy="266319"/>
          </a:xfrm>
          <a:prstGeom prst="rect">
            <a:avLst/>
          </a:prstGeom>
          <a:solidFill>
            <a:srgbClr val="FDF4FF"/>
          </a:solidFill>
          <a:ln/>
        </p:spPr>
      </p:sp>
      <p:sp>
        <p:nvSpPr>
          <p:cNvPr id="22" name="Text 20"/>
          <p:cNvSpPr/>
          <p:nvPr/>
        </p:nvSpPr>
        <p:spPr>
          <a:xfrm>
            <a:off x="457200" y="2571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3" name="Text 21"/>
          <p:cNvSpPr/>
          <p:nvPr/>
        </p:nvSpPr>
        <p:spPr>
          <a:xfrm>
            <a:off x="914400" y="411480"/>
            <a:ext cx="7315200" cy="3703320"/>
          </a:xfrm>
          <a:prstGeom prst="rect">
            <a:avLst/>
          </a:prstGeom>
          <a:noFill/>
          <a:ln/>
        </p:spPr>
        <p:txBody>
          <a:bodyPr wrap="square" rtlCol="0" anchor="ctr"/>
          <a:lstStyle/>
          <a:p>
            <a:pPr algn="ctr" indent="0" marL="0">
              <a:lnSpc>
                <a:spcPts val="3300"/>
              </a:lnSpc>
              <a:buNone/>
            </a:pPr>
            <a:r>
              <a:rPr lang="en-US" sz="2200" i="1" dirty="0">
                <a:solidFill>
                  <a:srgbClr val="581C87"/>
                </a:solidFill>
                <a:latin typeface="Poppins" pitchFamily="34" charset="0"/>
                <a:ea typeface="Poppins" pitchFamily="34" charset="-122"/>
                <a:cs typeface="Poppins" pitchFamily="34" charset="-120"/>
              </a:rPr>
              <a:t>And behold, the curtain of the temple was torn in two, from top to bottom. And the earth shook, and the rocks were split.</a:t>
            </a:r>
            <a:endParaRPr lang="en-US" sz="2200" dirty="0"/>
          </a:p>
        </p:txBody>
      </p:sp>
      <p:sp>
        <p:nvSpPr>
          <p:cNvPr id="24" name="Text 22"/>
          <p:cNvSpPr/>
          <p:nvPr/>
        </p:nvSpPr>
        <p:spPr>
          <a:xfrm>
            <a:off x="7772400" y="33432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5" name="Text 23"/>
          <p:cNvSpPr/>
          <p:nvPr/>
        </p:nvSpPr>
        <p:spPr>
          <a:xfrm>
            <a:off x="457200" y="4217670"/>
            <a:ext cx="8229600" cy="514350"/>
          </a:xfrm>
          <a:prstGeom prst="rect">
            <a:avLst/>
          </a:prstGeom>
          <a:noFill/>
          <a:ln/>
        </p:spPr>
        <p:txBody>
          <a:bodyPr wrap="square" rtlCol="0" anchor="t"/>
          <a:lstStyle/>
          <a:p>
            <a:pPr algn="ctr" indent="0" marL="0">
              <a:buNone/>
            </a:pPr>
            <a:r>
              <a:rPr lang="en-US" sz="1500" b="1" dirty="0">
                <a:solidFill>
                  <a:srgbClr val="581C87"/>
                </a:solidFill>
                <a:latin typeface="NotoSans-Bold" pitchFamily="34" charset="0"/>
                <a:ea typeface="NotoSans-Bold" pitchFamily="34" charset="-122"/>
                <a:cs typeface="NotoSans-Bold" pitchFamily="34" charset="-120"/>
              </a:rPr>
              <a:t>— Matthew 27:51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6D28D9"/>
          </a:solidFill>
          <a:ln/>
        </p:spPr>
      </p:sp>
      <p:sp>
        <p:nvSpPr>
          <p:cNvPr id="3" name="Shape 1"/>
          <p:cNvSpPr/>
          <p:nvPr/>
        </p:nvSpPr>
        <p:spPr>
          <a:xfrm>
            <a:off x="0" y="257175"/>
            <a:ext cx="9144000" cy="266319"/>
          </a:xfrm>
          <a:prstGeom prst="rect">
            <a:avLst/>
          </a:prstGeom>
          <a:solidFill>
            <a:srgbClr val="6D28D6"/>
          </a:solidFill>
          <a:ln/>
        </p:spPr>
      </p:sp>
      <p:sp>
        <p:nvSpPr>
          <p:cNvPr id="4" name="Shape 2"/>
          <p:cNvSpPr/>
          <p:nvPr/>
        </p:nvSpPr>
        <p:spPr>
          <a:xfrm>
            <a:off x="0" y="514350"/>
            <a:ext cx="9144000" cy="266319"/>
          </a:xfrm>
          <a:prstGeom prst="rect">
            <a:avLst/>
          </a:prstGeom>
          <a:solidFill>
            <a:srgbClr val="6D27D4"/>
          </a:solidFill>
          <a:ln/>
        </p:spPr>
      </p:sp>
      <p:sp>
        <p:nvSpPr>
          <p:cNvPr id="5" name="Shape 3"/>
          <p:cNvSpPr/>
          <p:nvPr/>
        </p:nvSpPr>
        <p:spPr>
          <a:xfrm>
            <a:off x="0" y="771525"/>
            <a:ext cx="9144000" cy="266319"/>
          </a:xfrm>
          <a:prstGeom prst="rect">
            <a:avLst/>
          </a:prstGeom>
          <a:solidFill>
            <a:srgbClr val="6D27D1"/>
          </a:solidFill>
          <a:ln/>
        </p:spPr>
      </p:sp>
      <p:sp>
        <p:nvSpPr>
          <p:cNvPr id="6" name="Shape 4"/>
          <p:cNvSpPr/>
          <p:nvPr/>
        </p:nvSpPr>
        <p:spPr>
          <a:xfrm>
            <a:off x="0" y="1028700"/>
            <a:ext cx="9144000" cy="266319"/>
          </a:xfrm>
          <a:prstGeom prst="rect">
            <a:avLst/>
          </a:prstGeom>
          <a:solidFill>
            <a:srgbClr val="6D27CF"/>
          </a:solidFill>
          <a:ln/>
        </p:spPr>
      </p:sp>
      <p:sp>
        <p:nvSpPr>
          <p:cNvPr id="7" name="Shape 5"/>
          <p:cNvSpPr/>
          <p:nvPr/>
        </p:nvSpPr>
        <p:spPr>
          <a:xfrm>
            <a:off x="0" y="1285875"/>
            <a:ext cx="9144000" cy="266319"/>
          </a:xfrm>
          <a:prstGeom prst="rect">
            <a:avLst/>
          </a:prstGeom>
          <a:solidFill>
            <a:srgbClr val="6C26CC"/>
          </a:solidFill>
          <a:ln/>
        </p:spPr>
      </p:sp>
      <p:sp>
        <p:nvSpPr>
          <p:cNvPr id="8" name="Shape 6"/>
          <p:cNvSpPr/>
          <p:nvPr/>
        </p:nvSpPr>
        <p:spPr>
          <a:xfrm>
            <a:off x="0" y="1543050"/>
            <a:ext cx="9144000" cy="266319"/>
          </a:xfrm>
          <a:prstGeom prst="rect">
            <a:avLst/>
          </a:prstGeom>
          <a:solidFill>
            <a:srgbClr val="6C26CA"/>
          </a:solidFill>
          <a:ln/>
        </p:spPr>
      </p:sp>
      <p:sp>
        <p:nvSpPr>
          <p:cNvPr id="9" name="Shape 7"/>
          <p:cNvSpPr/>
          <p:nvPr/>
        </p:nvSpPr>
        <p:spPr>
          <a:xfrm>
            <a:off x="0" y="1800225"/>
            <a:ext cx="9144000" cy="266319"/>
          </a:xfrm>
          <a:prstGeom prst="rect">
            <a:avLst/>
          </a:prstGeom>
          <a:solidFill>
            <a:srgbClr val="6C25C7"/>
          </a:solidFill>
          <a:ln/>
        </p:spPr>
      </p:sp>
      <p:sp>
        <p:nvSpPr>
          <p:cNvPr id="10" name="Shape 8"/>
          <p:cNvSpPr/>
          <p:nvPr/>
        </p:nvSpPr>
        <p:spPr>
          <a:xfrm>
            <a:off x="0" y="2057400"/>
            <a:ext cx="9144000" cy="266319"/>
          </a:xfrm>
          <a:prstGeom prst="rect">
            <a:avLst/>
          </a:prstGeom>
          <a:solidFill>
            <a:srgbClr val="6C25C4"/>
          </a:solidFill>
          <a:ln/>
        </p:spPr>
      </p:sp>
      <p:sp>
        <p:nvSpPr>
          <p:cNvPr id="11" name="Shape 9"/>
          <p:cNvSpPr/>
          <p:nvPr/>
        </p:nvSpPr>
        <p:spPr>
          <a:xfrm>
            <a:off x="0" y="2314575"/>
            <a:ext cx="9144000" cy="266319"/>
          </a:xfrm>
          <a:prstGeom prst="rect">
            <a:avLst/>
          </a:prstGeom>
          <a:solidFill>
            <a:srgbClr val="6C25C2"/>
          </a:solidFill>
          <a:ln/>
        </p:spPr>
      </p:sp>
      <p:sp>
        <p:nvSpPr>
          <p:cNvPr id="12" name="Shape 10"/>
          <p:cNvSpPr/>
          <p:nvPr/>
        </p:nvSpPr>
        <p:spPr>
          <a:xfrm>
            <a:off x="0" y="2571750"/>
            <a:ext cx="9144000" cy="266319"/>
          </a:xfrm>
          <a:prstGeom prst="rect">
            <a:avLst/>
          </a:prstGeom>
          <a:solidFill>
            <a:srgbClr val="6C24BF"/>
          </a:solidFill>
          <a:ln/>
        </p:spPr>
      </p:sp>
      <p:sp>
        <p:nvSpPr>
          <p:cNvPr id="13" name="Shape 11"/>
          <p:cNvSpPr/>
          <p:nvPr/>
        </p:nvSpPr>
        <p:spPr>
          <a:xfrm>
            <a:off x="0" y="2828925"/>
            <a:ext cx="9144000" cy="266319"/>
          </a:xfrm>
          <a:prstGeom prst="rect">
            <a:avLst/>
          </a:prstGeom>
          <a:solidFill>
            <a:srgbClr val="6C24BD"/>
          </a:solidFill>
          <a:ln/>
        </p:spPr>
      </p:sp>
      <p:sp>
        <p:nvSpPr>
          <p:cNvPr id="14" name="Shape 12"/>
          <p:cNvSpPr/>
          <p:nvPr/>
        </p:nvSpPr>
        <p:spPr>
          <a:xfrm>
            <a:off x="0" y="3086100"/>
            <a:ext cx="9144000" cy="266319"/>
          </a:xfrm>
          <a:prstGeom prst="rect">
            <a:avLst/>
          </a:prstGeom>
          <a:solidFill>
            <a:srgbClr val="6C24BA"/>
          </a:solidFill>
          <a:ln/>
        </p:spPr>
      </p:sp>
      <p:sp>
        <p:nvSpPr>
          <p:cNvPr id="15" name="Shape 13"/>
          <p:cNvSpPr/>
          <p:nvPr/>
        </p:nvSpPr>
        <p:spPr>
          <a:xfrm>
            <a:off x="0" y="3343275"/>
            <a:ext cx="9144000" cy="266319"/>
          </a:xfrm>
          <a:prstGeom prst="rect">
            <a:avLst/>
          </a:prstGeom>
          <a:solidFill>
            <a:srgbClr val="6C23B7"/>
          </a:solidFill>
          <a:ln/>
        </p:spPr>
      </p:sp>
      <p:sp>
        <p:nvSpPr>
          <p:cNvPr id="16" name="Shape 14"/>
          <p:cNvSpPr/>
          <p:nvPr/>
        </p:nvSpPr>
        <p:spPr>
          <a:xfrm>
            <a:off x="0" y="3600450"/>
            <a:ext cx="9144000" cy="266319"/>
          </a:xfrm>
          <a:prstGeom prst="rect">
            <a:avLst/>
          </a:prstGeom>
          <a:solidFill>
            <a:srgbClr val="6C23B5"/>
          </a:solidFill>
          <a:ln/>
        </p:spPr>
      </p:sp>
      <p:sp>
        <p:nvSpPr>
          <p:cNvPr id="17" name="Shape 15"/>
          <p:cNvSpPr/>
          <p:nvPr/>
        </p:nvSpPr>
        <p:spPr>
          <a:xfrm>
            <a:off x="0" y="3857625"/>
            <a:ext cx="9144000" cy="266319"/>
          </a:xfrm>
          <a:prstGeom prst="rect">
            <a:avLst/>
          </a:prstGeom>
          <a:solidFill>
            <a:srgbClr val="6B22B2"/>
          </a:solidFill>
          <a:ln/>
        </p:spPr>
      </p:sp>
      <p:sp>
        <p:nvSpPr>
          <p:cNvPr id="18" name="Shape 16"/>
          <p:cNvSpPr/>
          <p:nvPr/>
        </p:nvSpPr>
        <p:spPr>
          <a:xfrm>
            <a:off x="0" y="4114800"/>
            <a:ext cx="9144000" cy="266319"/>
          </a:xfrm>
          <a:prstGeom prst="rect">
            <a:avLst/>
          </a:prstGeom>
          <a:solidFill>
            <a:srgbClr val="6B22B0"/>
          </a:solidFill>
          <a:ln/>
        </p:spPr>
      </p:sp>
      <p:sp>
        <p:nvSpPr>
          <p:cNvPr id="19" name="Shape 17"/>
          <p:cNvSpPr/>
          <p:nvPr/>
        </p:nvSpPr>
        <p:spPr>
          <a:xfrm>
            <a:off x="0" y="4371975"/>
            <a:ext cx="9144000" cy="266319"/>
          </a:xfrm>
          <a:prstGeom prst="rect">
            <a:avLst/>
          </a:prstGeom>
          <a:solidFill>
            <a:srgbClr val="6B22AD"/>
          </a:solidFill>
          <a:ln/>
        </p:spPr>
      </p:sp>
      <p:sp>
        <p:nvSpPr>
          <p:cNvPr id="20" name="Shape 18"/>
          <p:cNvSpPr/>
          <p:nvPr/>
        </p:nvSpPr>
        <p:spPr>
          <a:xfrm>
            <a:off x="0" y="4629150"/>
            <a:ext cx="9144000" cy="266319"/>
          </a:xfrm>
          <a:prstGeom prst="rect">
            <a:avLst/>
          </a:prstGeom>
          <a:solidFill>
            <a:srgbClr val="6B21AB"/>
          </a:solidFill>
          <a:ln/>
        </p:spPr>
      </p:sp>
      <p:sp>
        <p:nvSpPr>
          <p:cNvPr id="21" name="Shape 19"/>
          <p:cNvSpPr/>
          <p:nvPr/>
        </p:nvSpPr>
        <p:spPr>
          <a:xfrm>
            <a:off x="0" y="4886325"/>
            <a:ext cx="9144000" cy="266319"/>
          </a:xfrm>
          <a:prstGeom prst="rect">
            <a:avLst/>
          </a:prstGeom>
          <a:solidFill>
            <a:srgbClr val="6B21A8"/>
          </a:solidFill>
          <a:ln/>
        </p:spPr>
      </p:sp>
      <p:sp>
        <p:nvSpPr>
          <p:cNvPr id="22" name="Shape 20"/>
          <p:cNvSpPr/>
          <p:nvPr/>
        </p:nvSpPr>
        <p:spPr>
          <a:xfrm>
            <a:off x="0" y="0"/>
            <a:ext cx="9144000" cy="77152"/>
          </a:xfrm>
          <a:prstGeom prst="rect">
            <a:avLst/>
          </a:prstGeom>
          <a:solidFill>
            <a:srgbClr val="FBBF24"/>
          </a:solidFill>
          <a:ln/>
        </p:spPr>
      </p:sp>
      <p:sp>
        <p:nvSpPr>
          <p:cNvPr id="23" name="Shape 21"/>
          <p:cNvSpPr/>
          <p:nvPr/>
        </p:nvSpPr>
        <p:spPr>
          <a:xfrm>
            <a:off x="0" y="0"/>
            <a:ext cx="91440" cy="5143500"/>
          </a:xfrm>
          <a:prstGeom prst="rect">
            <a:avLst/>
          </a:prstGeom>
          <a:solidFill>
            <a:srgbClr val="8B5CF6">
              <a:alpha val="50000"/>
            </a:srgbClr>
          </a:solidFill>
          <a:ln/>
        </p:spPr>
      </p:sp>
      <p:sp>
        <p:nvSpPr>
          <p:cNvPr id="24" name="Text 22"/>
          <p:cNvSpPr/>
          <p:nvPr/>
        </p:nvSpPr>
        <p:spPr>
          <a:xfrm>
            <a:off x="457200" y="1028700"/>
            <a:ext cx="8229600" cy="2828925"/>
          </a:xfrm>
          <a:prstGeom prst="rect">
            <a:avLst/>
          </a:prstGeom>
          <a:noFill/>
          <a:ln/>
        </p:spPr>
        <p:txBody>
          <a:bodyPr wrap="square" rtlCol="0" anchor="ctr"/>
          <a:lstStyle/>
          <a:p>
            <a:pPr algn="ctr" indent="0" marL="0">
              <a:buNone/>
            </a:pPr>
            <a:r>
              <a:rPr lang="en-US" sz="3400" b="1" dirty="0">
                <a:solidFill>
                  <a:srgbClr val="FFFFFF"/>
                </a:solidFill>
                <a:latin typeface="NotoSans-Bold" pitchFamily="34" charset="0"/>
                <a:ea typeface="NotoSans-Bold" pitchFamily="34" charset="-122"/>
                <a:cs typeface="NotoSans-Bold" pitchFamily="34" charset="-120"/>
              </a:rPr>
              <a:t>The Way Is Open — Now the Story Reaches Home</a:t>
            </a:r>
            <a:endParaRPr lang="en-US" sz="3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0" y="0"/>
            <a:ext cx="4572000" cy="5143500"/>
          </a:xfrm>
          <a:prstGeom prst="rect">
            <a:avLst/>
          </a:prstGeom>
        </p:spPr>
      </p:pic>
      <p:sp>
        <p:nvSpPr>
          <p:cNvPr id="4" name="Text 1"/>
          <p:cNvSpPr/>
          <p:nvPr/>
        </p:nvSpPr>
        <p:spPr>
          <a:xfrm>
            <a:off x="4846320" y="462915"/>
            <a:ext cx="3840480" cy="627507"/>
          </a:xfrm>
          <a:prstGeom prst="rect">
            <a:avLst/>
          </a:prstGeom>
          <a:noFill/>
          <a:ln/>
        </p:spPr>
        <p:txBody>
          <a:bodyPr wrap="square" rtlCol="0" anchor="t"/>
          <a:lstStyle/>
          <a:p>
            <a:pPr algn="l" indent="0" marL="0">
              <a:buNone/>
            </a:pPr>
            <a:r>
              <a:rPr lang="en-US" sz="2200" b="1" dirty="0">
                <a:solidFill>
                  <a:srgbClr val="111827"/>
                </a:solidFill>
                <a:latin typeface="Poppins" pitchFamily="34" charset="0"/>
                <a:ea typeface="Poppins" pitchFamily="34" charset="-122"/>
                <a:cs typeface="Poppins" pitchFamily="34" charset="-120"/>
              </a:rPr>
              <a:t>New Jerusalem: Home at Last</a:t>
            </a:r>
            <a:endParaRPr lang="en-US" sz="2200" dirty="0"/>
          </a:p>
        </p:txBody>
      </p:sp>
      <p:sp>
        <p:nvSpPr>
          <p:cNvPr id="5" name="Text 2"/>
          <p:cNvSpPr/>
          <p:nvPr/>
        </p:nvSpPr>
        <p:spPr>
          <a:xfrm>
            <a:off x="4846320" y="1296162"/>
            <a:ext cx="3840480" cy="3384423"/>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'Behold, the dwelling place of God is with man' (Revelation 21:3)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No temple, no veil, no barrier — God's presence fills everything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Every tear wiped away, death and mourning gone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 story that began in a garden ends in a city where God lives with His people forever
</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AF5FF"/>
          </a:solidFill>
          <a:ln/>
        </p:spPr>
      </p:sp>
      <p:sp>
        <p:nvSpPr>
          <p:cNvPr id="3" name="Shape 1"/>
          <p:cNvSpPr/>
          <p:nvPr/>
        </p:nvSpPr>
        <p:spPr>
          <a:xfrm>
            <a:off x="0" y="257175"/>
            <a:ext cx="9144000" cy="266319"/>
          </a:xfrm>
          <a:prstGeom prst="rect">
            <a:avLst/>
          </a:prstGeom>
          <a:solidFill>
            <a:srgbClr val="FAF5FF"/>
          </a:solidFill>
          <a:ln/>
        </p:spPr>
      </p:sp>
      <p:sp>
        <p:nvSpPr>
          <p:cNvPr id="4" name="Shape 2"/>
          <p:cNvSpPr/>
          <p:nvPr/>
        </p:nvSpPr>
        <p:spPr>
          <a:xfrm>
            <a:off x="0" y="514350"/>
            <a:ext cx="9144000" cy="266319"/>
          </a:xfrm>
          <a:prstGeom prst="rect">
            <a:avLst/>
          </a:prstGeom>
          <a:solidFill>
            <a:srgbClr val="FAF5FF"/>
          </a:solidFill>
          <a:ln/>
        </p:spPr>
      </p:sp>
      <p:sp>
        <p:nvSpPr>
          <p:cNvPr id="5" name="Shape 3"/>
          <p:cNvSpPr/>
          <p:nvPr/>
        </p:nvSpPr>
        <p:spPr>
          <a:xfrm>
            <a:off x="0" y="771525"/>
            <a:ext cx="9144000" cy="266319"/>
          </a:xfrm>
          <a:prstGeom prst="rect">
            <a:avLst/>
          </a:prstGeom>
          <a:solidFill>
            <a:srgbClr val="FAF5FF"/>
          </a:solidFill>
          <a:ln/>
        </p:spPr>
      </p:sp>
      <p:sp>
        <p:nvSpPr>
          <p:cNvPr id="6" name="Shape 4"/>
          <p:cNvSpPr/>
          <p:nvPr/>
        </p:nvSpPr>
        <p:spPr>
          <a:xfrm>
            <a:off x="0" y="1028700"/>
            <a:ext cx="9144000" cy="266319"/>
          </a:xfrm>
          <a:prstGeom prst="rect">
            <a:avLst/>
          </a:prstGeom>
          <a:solidFill>
            <a:srgbClr val="FBF5FF"/>
          </a:solidFill>
          <a:ln/>
        </p:spPr>
      </p:sp>
      <p:sp>
        <p:nvSpPr>
          <p:cNvPr id="7" name="Shape 5"/>
          <p:cNvSpPr/>
          <p:nvPr/>
        </p:nvSpPr>
        <p:spPr>
          <a:xfrm>
            <a:off x="0" y="1285875"/>
            <a:ext cx="9144000" cy="266319"/>
          </a:xfrm>
          <a:prstGeom prst="rect">
            <a:avLst/>
          </a:prstGeom>
          <a:solidFill>
            <a:srgbClr val="FBF5FF"/>
          </a:solidFill>
          <a:ln/>
        </p:spPr>
      </p:sp>
      <p:sp>
        <p:nvSpPr>
          <p:cNvPr id="8" name="Shape 6"/>
          <p:cNvSpPr/>
          <p:nvPr/>
        </p:nvSpPr>
        <p:spPr>
          <a:xfrm>
            <a:off x="0" y="1543050"/>
            <a:ext cx="9144000" cy="266319"/>
          </a:xfrm>
          <a:prstGeom prst="rect">
            <a:avLst/>
          </a:prstGeom>
          <a:solidFill>
            <a:srgbClr val="FBF5FF"/>
          </a:solidFill>
          <a:ln/>
        </p:spPr>
      </p:sp>
      <p:sp>
        <p:nvSpPr>
          <p:cNvPr id="9" name="Shape 7"/>
          <p:cNvSpPr/>
          <p:nvPr/>
        </p:nvSpPr>
        <p:spPr>
          <a:xfrm>
            <a:off x="0" y="1800225"/>
            <a:ext cx="9144000" cy="266319"/>
          </a:xfrm>
          <a:prstGeom prst="rect">
            <a:avLst/>
          </a:prstGeom>
          <a:solidFill>
            <a:srgbClr val="FBF5FF"/>
          </a:solidFill>
          <a:ln/>
        </p:spPr>
      </p:sp>
      <p:sp>
        <p:nvSpPr>
          <p:cNvPr id="10" name="Shape 8"/>
          <p:cNvSpPr/>
          <p:nvPr/>
        </p:nvSpPr>
        <p:spPr>
          <a:xfrm>
            <a:off x="0" y="2057400"/>
            <a:ext cx="9144000" cy="266319"/>
          </a:xfrm>
          <a:prstGeom prst="rect">
            <a:avLst/>
          </a:prstGeom>
          <a:solidFill>
            <a:srgbClr val="FBF5FF"/>
          </a:solidFill>
          <a:ln/>
        </p:spPr>
      </p:sp>
      <p:sp>
        <p:nvSpPr>
          <p:cNvPr id="11" name="Shape 9"/>
          <p:cNvSpPr/>
          <p:nvPr/>
        </p:nvSpPr>
        <p:spPr>
          <a:xfrm>
            <a:off x="0" y="2314575"/>
            <a:ext cx="9144000" cy="266319"/>
          </a:xfrm>
          <a:prstGeom prst="rect">
            <a:avLst/>
          </a:prstGeom>
          <a:solidFill>
            <a:srgbClr val="FBF5FF"/>
          </a:solidFill>
          <a:ln/>
        </p:spPr>
      </p:sp>
      <p:sp>
        <p:nvSpPr>
          <p:cNvPr id="12" name="Shape 10"/>
          <p:cNvSpPr/>
          <p:nvPr/>
        </p:nvSpPr>
        <p:spPr>
          <a:xfrm>
            <a:off x="0" y="2571750"/>
            <a:ext cx="9144000" cy="266319"/>
          </a:xfrm>
          <a:prstGeom prst="rect">
            <a:avLst/>
          </a:prstGeom>
          <a:solidFill>
            <a:srgbClr val="FCF4FF"/>
          </a:solidFill>
          <a:ln/>
        </p:spPr>
      </p:sp>
      <p:sp>
        <p:nvSpPr>
          <p:cNvPr id="13" name="Shape 11"/>
          <p:cNvSpPr/>
          <p:nvPr/>
        </p:nvSpPr>
        <p:spPr>
          <a:xfrm>
            <a:off x="0" y="2828925"/>
            <a:ext cx="9144000" cy="266319"/>
          </a:xfrm>
          <a:prstGeom prst="rect">
            <a:avLst/>
          </a:prstGeom>
          <a:solidFill>
            <a:srgbClr val="FCF4FF"/>
          </a:solidFill>
          <a:ln/>
        </p:spPr>
      </p:sp>
      <p:sp>
        <p:nvSpPr>
          <p:cNvPr id="14" name="Shape 12"/>
          <p:cNvSpPr/>
          <p:nvPr/>
        </p:nvSpPr>
        <p:spPr>
          <a:xfrm>
            <a:off x="0" y="3086100"/>
            <a:ext cx="9144000" cy="266319"/>
          </a:xfrm>
          <a:prstGeom prst="rect">
            <a:avLst/>
          </a:prstGeom>
          <a:solidFill>
            <a:srgbClr val="FCF4FF"/>
          </a:solidFill>
          <a:ln/>
        </p:spPr>
      </p:sp>
      <p:sp>
        <p:nvSpPr>
          <p:cNvPr id="15" name="Shape 13"/>
          <p:cNvSpPr/>
          <p:nvPr/>
        </p:nvSpPr>
        <p:spPr>
          <a:xfrm>
            <a:off x="0" y="3343275"/>
            <a:ext cx="9144000" cy="266319"/>
          </a:xfrm>
          <a:prstGeom prst="rect">
            <a:avLst/>
          </a:prstGeom>
          <a:solidFill>
            <a:srgbClr val="FCF4FF"/>
          </a:solidFill>
          <a:ln/>
        </p:spPr>
      </p:sp>
      <p:sp>
        <p:nvSpPr>
          <p:cNvPr id="16" name="Shape 14"/>
          <p:cNvSpPr/>
          <p:nvPr/>
        </p:nvSpPr>
        <p:spPr>
          <a:xfrm>
            <a:off x="0" y="3600450"/>
            <a:ext cx="9144000" cy="266319"/>
          </a:xfrm>
          <a:prstGeom prst="rect">
            <a:avLst/>
          </a:prstGeom>
          <a:solidFill>
            <a:srgbClr val="FCF4FF"/>
          </a:solidFill>
          <a:ln/>
        </p:spPr>
      </p:sp>
      <p:sp>
        <p:nvSpPr>
          <p:cNvPr id="17" name="Shape 15"/>
          <p:cNvSpPr/>
          <p:nvPr/>
        </p:nvSpPr>
        <p:spPr>
          <a:xfrm>
            <a:off x="0" y="3857625"/>
            <a:ext cx="9144000" cy="266319"/>
          </a:xfrm>
          <a:prstGeom prst="rect">
            <a:avLst/>
          </a:prstGeom>
          <a:solidFill>
            <a:srgbClr val="FCF4FF"/>
          </a:solidFill>
          <a:ln/>
        </p:spPr>
      </p:sp>
      <p:sp>
        <p:nvSpPr>
          <p:cNvPr id="18" name="Shape 16"/>
          <p:cNvSpPr/>
          <p:nvPr/>
        </p:nvSpPr>
        <p:spPr>
          <a:xfrm>
            <a:off x="0" y="4114800"/>
            <a:ext cx="9144000" cy="266319"/>
          </a:xfrm>
          <a:prstGeom prst="rect">
            <a:avLst/>
          </a:prstGeom>
          <a:solidFill>
            <a:srgbClr val="FDF4FF"/>
          </a:solidFill>
          <a:ln/>
        </p:spPr>
      </p:sp>
      <p:sp>
        <p:nvSpPr>
          <p:cNvPr id="19" name="Shape 17"/>
          <p:cNvSpPr/>
          <p:nvPr/>
        </p:nvSpPr>
        <p:spPr>
          <a:xfrm>
            <a:off x="0" y="4371975"/>
            <a:ext cx="9144000" cy="266319"/>
          </a:xfrm>
          <a:prstGeom prst="rect">
            <a:avLst/>
          </a:prstGeom>
          <a:solidFill>
            <a:srgbClr val="FDF4FF"/>
          </a:solidFill>
          <a:ln/>
        </p:spPr>
      </p:sp>
      <p:sp>
        <p:nvSpPr>
          <p:cNvPr id="20" name="Shape 18"/>
          <p:cNvSpPr/>
          <p:nvPr/>
        </p:nvSpPr>
        <p:spPr>
          <a:xfrm>
            <a:off x="0" y="4629150"/>
            <a:ext cx="9144000" cy="266319"/>
          </a:xfrm>
          <a:prstGeom prst="rect">
            <a:avLst/>
          </a:prstGeom>
          <a:solidFill>
            <a:srgbClr val="FDF4FF"/>
          </a:solidFill>
          <a:ln/>
        </p:spPr>
      </p:sp>
      <p:sp>
        <p:nvSpPr>
          <p:cNvPr id="21" name="Shape 19"/>
          <p:cNvSpPr/>
          <p:nvPr/>
        </p:nvSpPr>
        <p:spPr>
          <a:xfrm>
            <a:off x="0" y="4886325"/>
            <a:ext cx="9144000" cy="266319"/>
          </a:xfrm>
          <a:prstGeom prst="rect">
            <a:avLst/>
          </a:prstGeom>
          <a:solidFill>
            <a:srgbClr val="FDF4FF"/>
          </a:solidFill>
          <a:ln/>
        </p:spPr>
      </p:sp>
      <p:sp>
        <p:nvSpPr>
          <p:cNvPr id="22" name="Text 20"/>
          <p:cNvSpPr/>
          <p:nvPr/>
        </p:nvSpPr>
        <p:spPr>
          <a:xfrm>
            <a:off x="457200" y="2571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3" name="Text 21"/>
          <p:cNvSpPr/>
          <p:nvPr/>
        </p:nvSpPr>
        <p:spPr>
          <a:xfrm>
            <a:off x="914400" y="411480"/>
            <a:ext cx="7315200" cy="3703320"/>
          </a:xfrm>
          <a:prstGeom prst="rect">
            <a:avLst/>
          </a:prstGeom>
          <a:noFill/>
          <a:ln/>
        </p:spPr>
        <p:txBody>
          <a:bodyPr wrap="square" rtlCol="0" anchor="ctr"/>
          <a:lstStyle/>
          <a:p>
            <a:pPr algn="ctr" indent="0" marL="0">
              <a:lnSpc>
                <a:spcPts val="3300"/>
              </a:lnSpc>
              <a:buNone/>
            </a:pPr>
            <a:r>
              <a:rPr lang="en-US" sz="2200" i="1" dirty="0">
                <a:solidFill>
                  <a:srgbClr val="581C87"/>
                </a:solidFill>
                <a:latin typeface="Poppins" pitchFamily="34" charset="0"/>
                <a:ea typeface="Poppins" pitchFamily="34" charset="-122"/>
                <a:cs typeface="Poppins" pitchFamily="34" charset="-120"/>
              </a:rPr>
              <a:t>Through the middle of the street of the city; also, on either side of the river, the tree of life with its twelve kinds of fruit, yielding its fruit each month. The leaves of the tree were for the healing of the nations.</a:t>
            </a:r>
            <a:endParaRPr lang="en-US" sz="2200" dirty="0"/>
          </a:p>
        </p:txBody>
      </p:sp>
      <p:sp>
        <p:nvSpPr>
          <p:cNvPr id="24" name="Text 22"/>
          <p:cNvSpPr/>
          <p:nvPr/>
        </p:nvSpPr>
        <p:spPr>
          <a:xfrm>
            <a:off x="7772400" y="33432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5" name="Text 23"/>
          <p:cNvSpPr/>
          <p:nvPr/>
        </p:nvSpPr>
        <p:spPr>
          <a:xfrm>
            <a:off x="457200" y="4217670"/>
            <a:ext cx="8229600" cy="514350"/>
          </a:xfrm>
          <a:prstGeom prst="rect">
            <a:avLst/>
          </a:prstGeom>
          <a:noFill/>
          <a:ln/>
        </p:spPr>
        <p:txBody>
          <a:bodyPr wrap="square" rtlCol="0" anchor="t"/>
          <a:lstStyle/>
          <a:p>
            <a:pPr algn="ctr" indent="0" marL="0">
              <a:buNone/>
            </a:pPr>
            <a:r>
              <a:rPr lang="en-US" sz="1500" b="1" dirty="0">
                <a:solidFill>
                  <a:srgbClr val="581C87"/>
                </a:solidFill>
                <a:latin typeface="NotoSans-Bold" pitchFamily="34" charset="0"/>
                <a:ea typeface="NotoSans-Bold" pitchFamily="34" charset="-122"/>
                <a:cs typeface="NotoSans-Bold" pitchFamily="34" charset="-120"/>
              </a:rPr>
              <a:t>— Revelation 22:2</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77152"/>
          </a:xfrm>
          <a:prstGeom prst="rect">
            <a:avLst/>
          </a:prstGeom>
          <a:solidFill>
            <a:srgbClr val="FBBF24"/>
          </a:solidFill>
          <a:ln/>
        </p:spPr>
      </p:sp>
      <p:sp>
        <p:nvSpPr>
          <p:cNvPr id="4" name="Text 2"/>
          <p:cNvSpPr/>
          <p:nvPr/>
        </p:nvSpPr>
        <p:spPr>
          <a:xfrm>
            <a:off x="457200" y="257175"/>
            <a:ext cx="8229600" cy="617220"/>
          </a:xfrm>
          <a:prstGeom prst="rect">
            <a:avLst/>
          </a:prstGeom>
          <a:noFill/>
          <a:ln/>
        </p:spPr>
        <p:txBody>
          <a:bodyPr wrap="square" rtlCol="0" anchor="t"/>
          <a:lstStyle/>
          <a:p>
            <a:pPr algn="ctr" indent="0" marL="0">
              <a:buNone/>
            </a:pPr>
            <a:r>
              <a:rPr lang="en-US" sz="2700" b="1" dirty="0">
                <a:solidFill>
                  <a:srgbClr val="6D28D9"/>
                </a:solidFill>
                <a:latin typeface="Poppins" pitchFamily="34" charset="0"/>
                <a:ea typeface="Poppins" pitchFamily="34" charset="-122"/>
                <a:cs typeface="Poppins" pitchFamily="34" charset="-120"/>
              </a:rPr>
              <a:t>Eden Lost, Eden Restored</a:t>
            </a:r>
            <a:endParaRPr lang="en-US" sz="2700" dirty="0"/>
          </a:p>
        </p:txBody>
      </p:sp>
      <p:sp>
        <p:nvSpPr>
          <p:cNvPr id="5" name="Shape 3"/>
          <p:cNvSpPr/>
          <p:nvPr/>
        </p:nvSpPr>
        <p:spPr>
          <a:xfrm>
            <a:off x="274320" y="1028700"/>
            <a:ext cx="4023360" cy="514350"/>
          </a:xfrm>
          <a:prstGeom prst="rect">
            <a:avLst/>
          </a:prstGeom>
          <a:solidFill>
            <a:srgbClr val="6D28D9"/>
          </a:solidFill>
          <a:ln/>
        </p:spPr>
      </p:sp>
      <p:sp>
        <p:nvSpPr>
          <p:cNvPr id="6" name="Text 4"/>
          <p:cNvSpPr/>
          <p:nvPr/>
        </p:nvSpPr>
        <p:spPr>
          <a:xfrm>
            <a:off x="274320" y="1028700"/>
            <a:ext cx="4023360" cy="514350"/>
          </a:xfrm>
          <a:prstGeom prst="rect">
            <a:avLst/>
          </a:prstGeom>
          <a:noFill/>
          <a:ln/>
        </p:spPr>
        <p:txBody>
          <a:bodyPr wrap="square"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Genesis 3</a:t>
            </a:r>
            <a:endParaRPr lang="en-US" sz="1600" dirty="0"/>
          </a:p>
        </p:txBody>
      </p:sp>
      <p:sp>
        <p:nvSpPr>
          <p:cNvPr id="7" name="Text 5"/>
          <p:cNvSpPr/>
          <p:nvPr/>
        </p:nvSpPr>
        <p:spPr>
          <a:xfrm>
            <a:off x="457200" y="1697355"/>
            <a:ext cx="3657600" cy="2983230"/>
          </a:xfrm>
          <a:prstGeom prst="rect">
            <a:avLst/>
          </a:prstGeom>
          <a:noFill/>
          <a:ln/>
        </p:spPr>
        <p:txBody>
          <a:bodyPr wrap="square" rtlCol="0" anchor="t"/>
          <a:lstStyle/>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Sin enters the world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Access to God's presence lost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Cherubim guard the way back
</a:t>
            </a:r>
            <a:endParaRPr lang="en-US" sz="1300" dirty="0"/>
          </a:p>
          <a:p>
            <a:pPr indent="0" marL="0">
              <a:lnSpc>
                <a:spcPts val="1700"/>
              </a:lnSpc>
              <a:buNone/>
            </a:pPr>
            <a:r>
              <a:rPr lang="en-US" sz="1300" dirty="0">
                <a:solidFill>
                  <a:srgbClr val="6D28D9"/>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Death enters as a consequence
</a:t>
            </a:r>
            <a:endParaRPr lang="en-US" sz="1300" dirty="0"/>
          </a:p>
        </p:txBody>
      </p:sp>
      <p:sp>
        <p:nvSpPr>
          <p:cNvPr id="8" name="Shape 6"/>
          <p:cNvSpPr/>
          <p:nvPr/>
        </p:nvSpPr>
        <p:spPr>
          <a:xfrm>
            <a:off x="4480560" y="1028700"/>
            <a:ext cx="182880" cy="3754755"/>
          </a:xfrm>
          <a:prstGeom prst="rect">
            <a:avLst/>
          </a:prstGeom>
          <a:solidFill>
            <a:srgbClr val="FBBF24"/>
          </a:solidFill>
          <a:ln/>
        </p:spPr>
      </p:sp>
      <p:sp>
        <p:nvSpPr>
          <p:cNvPr id="9" name="Shape 7"/>
          <p:cNvSpPr/>
          <p:nvPr/>
        </p:nvSpPr>
        <p:spPr>
          <a:xfrm>
            <a:off x="4846320" y="1028700"/>
            <a:ext cx="4023360" cy="514350"/>
          </a:xfrm>
          <a:prstGeom prst="rect">
            <a:avLst/>
          </a:prstGeom>
          <a:solidFill>
            <a:srgbClr val="D97706"/>
          </a:solidFill>
          <a:ln/>
        </p:spPr>
      </p:sp>
      <p:sp>
        <p:nvSpPr>
          <p:cNvPr id="10" name="Text 8"/>
          <p:cNvSpPr/>
          <p:nvPr/>
        </p:nvSpPr>
        <p:spPr>
          <a:xfrm>
            <a:off x="4846320" y="1028700"/>
            <a:ext cx="4023360" cy="514350"/>
          </a:xfrm>
          <a:prstGeom prst="rect">
            <a:avLst/>
          </a:prstGeom>
          <a:noFill/>
          <a:ln/>
        </p:spPr>
        <p:txBody>
          <a:bodyPr wrap="square"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Revelation 21-22</a:t>
            </a:r>
            <a:endParaRPr lang="en-US" sz="1600" dirty="0"/>
          </a:p>
        </p:txBody>
      </p:sp>
      <p:sp>
        <p:nvSpPr>
          <p:cNvPr id="11" name="Text 9"/>
          <p:cNvSpPr/>
          <p:nvPr/>
        </p:nvSpPr>
        <p:spPr>
          <a:xfrm>
            <a:off x="5029200" y="1697355"/>
            <a:ext cx="3657600" cy="2983230"/>
          </a:xfrm>
          <a:prstGeom prst="rect">
            <a:avLst/>
          </a:prstGeom>
          <a:noFill/>
          <a:ln/>
        </p:spPr>
        <p:txBody>
          <a:bodyPr wrap="square" rtlCol="0" anchor="t"/>
          <a:lstStyle/>
          <a:p>
            <a:pPr indent="0" marL="0">
              <a:lnSpc>
                <a:spcPts val="1700"/>
              </a:lnSpc>
              <a:buNone/>
            </a:pPr>
            <a:r>
              <a:rPr lang="en-US" sz="1300" dirty="0">
                <a:solidFill>
                  <a:srgbClr val="D97706"/>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Sin and its curse are gone
</a:t>
            </a:r>
            <a:endParaRPr lang="en-US" sz="1300" dirty="0"/>
          </a:p>
          <a:p>
            <a:pPr indent="0" marL="0">
              <a:lnSpc>
                <a:spcPts val="1700"/>
              </a:lnSpc>
              <a:buNone/>
            </a:pPr>
            <a:r>
              <a:rPr lang="en-US" sz="1300" dirty="0">
                <a:solidFill>
                  <a:srgbClr val="D97706"/>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Access to God's presence fully restored
</a:t>
            </a:r>
            <a:endParaRPr lang="en-US" sz="1300" dirty="0"/>
          </a:p>
          <a:p>
            <a:pPr indent="0" marL="0">
              <a:lnSpc>
                <a:spcPts val="1700"/>
              </a:lnSpc>
              <a:buNone/>
            </a:pPr>
            <a:r>
              <a:rPr lang="en-US" sz="1300" dirty="0">
                <a:solidFill>
                  <a:srgbClr val="D97706"/>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The way is forever open
</a:t>
            </a:r>
            <a:endParaRPr lang="en-US" sz="1300" dirty="0"/>
          </a:p>
          <a:p>
            <a:pPr indent="0" marL="0">
              <a:lnSpc>
                <a:spcPts val="1700"/>
              </a:lnSpc>
              <a:buNone/>
            </a:pPr>
            <a:r>
              <a:rPr lang="en-US" sz="1300" dirty="0">
                <a:solidFill>
                  <a:srgbClr val="D97706"/>
                </a:solidFill>
                <a:latin typeface="Poppins" pitchFamily="34" charset="0"/>
                <a:ea typeface="Poppins" pitchFamily="34" charset="-122"/>
                <a:cs typeface="Poppins" pitchFamily="34" charset="-120"/>
              </a:rPr>
              <a:t>●  </a:t>
            </a:r>
            <a:pPr indent="0" marL="0">
              <a:lnSpc>
                <a:spcPts val="1700"/>
              </a:lnSpc>
              <a:buNone/>
            </a:pPr>
            <a:r>
              <a:rPr lang="en-US" sz="1300" dirty="0">
                <a:solidFill>
                  <a:srgbClr val="111827"/>
                </a:solidFill>
                <a:latin typeface="Poppins" pitchFamily="34" charset="0"/>
                <a:ea typeface="Poppins" pitchFamily="34" charset="-122"/>
                <a:cs typeface="Poppins" pitchFamily="34" charset="-120"/>
              </a:rPr>
              <a:t>Death is swallowed up in victory
</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AF5FF"/>
          </a:solidFill>
          <a:ln/>
        </p:spPr>
      </p:sp>
      <p:sp>
        <p:nvSpPr>
          <p:cNvPr id="3" name="Shape 1"/>
          <p:cNvSpPr/>
          <p:nvPr/>
        </p:nvSpPr>
        <p:spPr>
          <a:xfrm>
            <a:off x="0" y="257175"/>
            <a:ext cx="9144000" cy="266319"/>
          </a:xfrm>
          <a:prstGeom prst="rect">
            <a:avLst/>
          </a:prstGeom>
          <a:solidFill>
            <a:srgbClr val="FAF5FF"/>
          </a:solidFill>
          <a:ln/>
        </p:spPr>
      </p:sp>
      <p:sp>
        <p:nvSpPr>
          <p:cNvPr id="4" name="Shape 2"/>
          <p:cNvSpPr/>
          <p:nvPr/>
        </p:nvSpPr>
        <p:spPr>
          <a:xfrm>
            <a:off x="0" y="514350"/>
            <a:ext cx="9144000" cy="266319"/>
          </a:xfrm>
          <a:prstGeom prst="rect">
            <a:avLst/>
          </a:prstGeom>
          <a:solidFill>
            <a:srgbClr val="FAF5FF"/>
          </a:solidFill>
          <a:ln/>
        </p:spPr>
      </p:sp>
      <p:sp>
        <p:nvSpPr>
          <p:cNvPr id="5" name="Shape 3"/>
          <p:cNvSpPr/>
          <p:nvPr/>
        </p:nvSpPr>
        <p:spPr>
          <a:xfrm>
            <a:off x="0" y="771525"/>
            <a:ext cx="9144000" cy="266319"/>
          </a:xfrm>
          <a:prstGeom prst="rect">
            <a:avLst/>
          </a:prstGeom>
          <a:solidFill>
            <a:srgbClr val="FAF5FF"/>
          </a:solidFill>
          <a:ln/>
        </p:spPr>
      </p:sp>
      <p:sp>
        <p:nvSpPr>
          <p:cNvPr id="6" name="Shape 4"/>
          <p:cNvSpPr/>
          <p:nvPr/>
        </p:nvSpPr>
        <p:spPr>
          <a:xfrm>
            <a:off x="0" y="1028700"/>
            <a:ext cx="9144000" cy="266319"/>
          </a:xfrm>
          <a:prstGeom prst="rect">
            <a:avLst/>
          </a:prstGeom>
          <a:solidFill>
            <a:srgbClr val="FBF5FF"/>
          </a:solidFill>
          <a:ln/>
        </p:spPr>
      </p:sp>
      <p:sp>
        <p:nvSpPr>
          <p:cNvPr id="7" name="Shape 5"/>
          <p:cNvSpPr/>
          <p:nvPr/>
        </p:nvSpPr>
        <p:spPr>
          <a:xfrm>
            <a:off x="0" y="1285875"/>
            <a:ext cx="9144000" cy="266319"/>
          </a:xfrm>
          <a:prstGeom prst="rect">
            <a:avLst/>
          </a:prstGeom>
          <a:solidFill>
            <a:srgbClr val="FBF5FF"/>
          </a:solidFill>
          <a:ln/>
        </p:spPr>
      </p:sp>
      <p:sp>
        <p:nvSpPr>
          <p:cNvPr id="8" name="Shape 6"/>
          <p:cNvSpPr/>
          <p:nvPr/>
        </p:nvSpPr>
        <p:spPr>
          <a:xfrm>
            <a:off x="0" y="1543050"/>
            <a:ext cx="9144000" cy="266319"/>
          </a:xfrm>
          <a:prstGeom prst="rect">
            <a:avLst/>
          </a:prstGeom>
          <a:solidFill>
            <a:srgbClr val="FBF5FF"/>
          </a:solidFill>
          <a:ln/>
        </p:spPr>
      </p:sp>
      <p:sp>
        <p:nvSpPr>
          <p:cNvPr id="9" name="Shape 7"/>
          <p:cNvSpPr/>
          <p:nvPr/>
        </p:nvSpPr>
        <p:spPr>
          <a:xfrm>
            <a:off x="0" y="1800225"/>
            <a:ext cx="9144000" cy="266319"/>
          </a:xfrm>
          <a:prstGeom prst="rect">
            <a:avLst/>
          </a:prstGeom>
          <a:solidFill>
            <a:srgbClr val="FBF5FF"/>
          </a:solidFill>
          <a:ln/>
        </p:spPr>
      </p:sp>
      <p:sp>
        <p:nvSpPr>
          <p:cNvPr id="10" name="Shape 8"/>
          <p:cNvSpPr/>
          <p:nvPr/>
        </p:nvSpPr>
        <p:spPr>
          <a:xfrm>
            <a:off x="0" y="2057400"/>
            <a:ext cx="9144000" cy="266319"/>
          </a:xfrm>
          <a:prstGeom prst="rect">
            <a:avLst/>
          </a:prstGeom>
          <a:solidFill>
            <a:srgbClr val="FBF5FF"/>
          </a:solidFill>
          <a:ln/>
        </p:spPr>
      </p:sp>
      <p:sp>
        <p:nvSpPr>
          <p:cNvPr id="11" name="Shape 9"/>
          <p:cNvSpPr/>
          <p:nvPr/>
        </p:nvSpPr>
        <p:spPr>
          <a:xfrm>
            <a:off x="0" y="2314575"/>
            <a:ext cx="9144000" cy="266319"/>
          </a:xfrm>
          <a:prstGeom prst="rect">
            <a:avLst/>
          </a:prstGeom>
          <a:solidFill>
            <a:srgbClr val="FBF5FF"/>
          </a:solidFill>
          <a:ln/>
        </p:spPr>
      </p:sp>
      <p:sp>
        <p:nvSpPr>
          <p:cNvPr id="12" name="Shape 10"/>
          <p:cNvSpPr/>
          <p:nvPr/>
        </p:nvSpPr>
        <p:spPr>
          <a:xfrm>
            <a:off x="0" y="2571750"/>
            <a:ext cx="9144000" cy="266319"/>
          </a:xfrm>
          <a:prstGeom prst="rect">
            <a:avLst/>
          </a:prstGeom>
          <a:solidFill>
            <a:srgbClr val="FCF4FF"/>
          </a:solidFill>
          <a:ln/>
        </p:spPr>
      </p:sp>
      <p:sp>
        <p:nvSpPr>
          <p:cNvPr id="13" name="Shape 11"/>
          <p:cNvSpPr/>
          <p:nvPr/>
        </p:nvSpPr>
        <p:spPr>
          <a:xfrm>
            <a:off x="0" y="2828925"/>
            <a:ext cx="9144000" cy="266319"/>
          </a:xfrm>
          <a:prstGeom prst="rect">
            <a:avLst/>
          </a:prstGeom>
          <a:solidFill>
            <a:srgbClr val="FCF4FF"/>
          </a:solidFill>
          <a:ln/>
        </p:spPr>
      </p:sp>
      <p:sp>
        <p:nvSpPr>
          <p:cNvPr id="14" name="Shape 12"/>
          <p:cNvSpPr/>
          <p:nvPr/>
        </p:nvSpPr>
        <p:spPr>
          <a:xfrm>
            <a:off x="0" y="3086100"/>
            <a:ext cx="9144000" cy="266319"/>
          </a:xfrm>
          <a:prstGeom prst="rect">
            <a:avLst/>
          </a:prstGeom>
          <a:solidFill>
            <a:srgbClr val="FCF4FF"/>
          </a:solidFill>
          <a:ln/>
        </p:spPr>
      </p:sp>
      <p:sp>
        <p:nvSpPr>
          <p:cNvPr id="15" name="Shape 13"/>
          <p:cNvSpPr/>
          <p:nvPr/>
        </p:nvSpPr>
        <p:spPr>
          <a:xfrm>
            <a:off x="0" y="3343275"/>
            <a:ext cx="9144000" cy="266319"/>
          </a:xfrm>
          <a:prstGeom prst="rect">
            <a:avLst/>
          </a:prstGeom>
          <a:solidFill>
            <a:srgbClr val="FCF4FF"/>
          </a:solidFill>
          <a:ln/>
        </p:spPr>
      </p:sp>
      <p:sp>
        <p:nvSpPr>
          <p:cNvPr id="16" name="Shape 14"/>
          <p:cNvSpPr/>
          <p:nvPr/>
        </p:nvSpPr>
        <p:spPr>
          <a:xfrm>
            <a:off x="0" y="3600450"/>
            <a:ext cx="9144000" cy="266319"/>
          </a:xfrm>
          <a:prstGeom prst="rect">
            <a:avLst/>
          </a:prstGeom>
          <a:solidFill>
            <a:srgbClr val="FCF4FF"/>
          </a:solidFill>
          <a:ln/>
        </p:spPr>
      </p:sp>
      <p:sp>
        <p:nvSpPr>
          <p:cNvPr id="17" name="Shape 15"/>
          <p:cNvSpPr/>
          <p:nvPr/>
        </p:nvSpPr>
        <p:spPr>
          <a:xfrm>
            <a:off x="0" y="3857625"/>
            <a:ext cx="9144000" cy="266319"/>
          </a:xfrm>
          <a:prstGeom prst="rect">
            <a:avLst/>
          </a:prstGeom>
          <a:solidFill>
            <a:srgbClr val="FCF4FF"/>
          </a:solidFill>
          <a:ln/>
        </p:spPr>
      </p:sp>
      <p:sp>
        <p:nvSpPr>
          <p:cNvPr id="18" name="Shape 16"/>
          <p:cNvSpPr/>
          <p:nvPr/>
        </p:nvSpPr>
        <p:spPr>
          <a:xfrm>
            <a:off x="0" y="4114800"/>
            <a:ext cx="9144000" cy="266319"/>
          </a:xfrm>
          <a:prstGeom prst="rect">
            <a:avLst/>
          </a:prstGeom>
          <a:solidFill>
            <a:srgbClr val="FDF4FF"/>
          </a:solidFill>
          <a:ln/>
        </p:spPr>
      </p:sp>
      <p:sp>
        <p:nvSpPr>
          <p:cNvPr id="19" name="Shape 17"/>
          <p:cNvSpPr/>
          <p:nvPr/>
        </p:nvSpPr>
        <p:spPr>
          <a:xfrm>
            <a:off x="0" y="4371975"/>
            <a:ext cx="9144000" cy="266319"/>
          </a:xfrm>
          <a:prstGeom prst="rect">
            <a:avLst/>
          </a:prstGeom>
          <a:solidFill>
            <a:srgbClr val="FDF4FF"/>
          </a:solidFill>
          <a:ln/>
        </p:spPr>
      </p:sp>
      <p:sp>
        <p:nvSpPr>
          <p:cNvPr id="20" name="Shape 18"/>
          <p:cNvSpPr/>
          <p:nvPr/>
        </p:nvSpPr>
        <p:spPr>
          <a:xfrm>
            <a:off x="0" y="4629150"/>
            <a:ext cx="9144000" cy="266319"/>
          </a:xfrm>
          <a:prstGeom prst="rect">
            <a:avLst/>
          </a:prstGeom>
          <a:solidFill>
            <a:srgbClr val="FDF4FF"/>
          </a:solidFill>
          <a:ln/>
        </p:spPr>
      </p:sp>
      <p:sp>
        <p:nvSpPr>
          <p:cNvPr id="21" name="Shape 19"/>
          <p:cNvSpPr/>
          <p:nvPr/>
        </p:nvSpPr>
        <p:spPr>
          <a:xfrm>
            <a:off x="0" y="4886325"/>
            <a:ext cx="9144000" cy="266319"/>
          </a:xfrm>
          <a:prstGeom prst="rect">
            <a:avLst/>
          </a:prstGeom>
          <a:solidFill>
            <a:srgbClr val="FDF4FF"/>
          </a:solidFill>
          <a:ln/>
        </p:spPr>
      </p:sp>
      <p:sp>
        <p:nvSpPr>
          <p:cNvPr id="22" name="Text 20"/>
          <p:cNvSpPr/>
          <p:nvPr/>
        </p:nvSpPr>
        <p:spPr>
          <a:xfrm>
            <a:off x="457200" y="2571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3" name="Text 21"/>
          <p:cNvSpPr/>
          <p:nvPr/>
        </p:nvSpPr>
        <p:spPr>
          <a:xfrm>
            <a:off x="914400" y="411480"/>
            <a:ext cx="7315200" cy="3703320"/>
          </a:xfrm>
          <a:prstGeom prst="rect">
            <a:avLst/>
          </a:prstGeom>
          <a:noFill/>
          <a:ln/>
        </p:spPr>
        <p:txBody>
          <a:bodyPr wrap="square" rtlCol="0" anchor="ctr"/>
          <a:lstStyle/>
          <a:p>
            <a:pPr algn="ctr" indent="0" marL="0">
              <a:lnSpc>
                <a:spcPts val="3300"/>
              </a:lnSpc>
              <a:buNone/>
            </a:pPr>
            <a:r>
              <a:rPr lang="en-US" sz="2200" i="1" dirty="0">
                <a:solidFill>
                  <a:srgbClr val="581C87"/>
                </a:solidFill>
                <a:latin typeface="Poppins" pitchFamily="34" charset="0"/>
                <a:ea typeface="Poppins" pitchFamily="34" charset="-122"/>
                <a:cs typeface="Poppins" pitchFamily="34" charset="-120"/>
              </a:rPr>
              <a:t>For the Son of Man came to seek and to save the lost.</a:t>
            </a:r>
            <a:endParaRPr lang="en-US" sz="2200" dirty="0"/>
          </a:p>
        </p:txBody>
      </p:sp>
      <p:sp>
        <p:nvSpPr>
          <p:cNvPr id="24" name="Text 22"/>
          <p:cNvSpPr/>
          <p:nvPr/>
        </p:nvSpPr>
        <p:spPr>
          <a:xfrm>
            <a:off x="7772400" y="3343275"/>
            <a:ext cx="914400" cy="771525"/>
          </a:xfrm>
          <a:prstGeom prst="rect">
            <a:avLst/>
          </a:prstGeom>
          <a:noFill/>
          <a:ln/>
        </p:spPr>
        <p:txBody>
          <a:bodyPr wrap="square" rtlCol="0" anchor="t"/>
          <a:lstStyle/>
          <a:p>
            <a:pPr algn="l" indent="0" marL="0">
              <a:buNone/>
            </a:pPr>
            <a:r>
              <a:rPr lang="en-US" sz="8000" dirty="0">
                <a:solidFill>
                  <a:srgbClr val="A855F7">
                    <a:alpha val="30000"/>
                  </a:srgbClr>
                </a:solidFill>
                <a:latin typeface="NotoSans" pitchFamily="34" charset="0"/>
                <a:ea typeface="NotoSans" pitchFamily="34" charset="-122"/>
                <a:cs typeface="NotoSans" pitchFamily="34" charset="-120"/>
              </a:rPr>
              <a:t>”</a:t>
            </a:r>
            <a:endParaRPr lang="en-US" sz="8000" dirty="0"/>
          </a:p>
        </p:txBody>
      </p:sp>
      <p:sp>
        <p:nvSpPr>
          <p:cNvPr id="25" name="Text 23"/>
          <p:cNvSpPr/>
          <p:nvPr/>
        </p:nvSpPr>
        <p:spPr>
          <a:xfrm>
            <a:off x="457200" y="4217670"/>
            <a:ext cx="8229600" cy="514350"/>
          </a:xfrm>
          <a:prstGeom prst="rect">
            <a:avLst/>
          </a:prstGeom>
          <a:noFill/>
          <a:ln/>
        </p:spPr>
        <p:txBody>
          <a:bodyPr wrap="square" rtlCol="0" anchor="t"/>
          <a:lstStyle/>
          <a:p>
            <a:pPr algn="ctr" indent="0" marL="0">
              <a:buNone/>
            </a:pPr>
            <a:r>
              <a:rPr lang="en-US" sz="1500" b="1" dirty="0">
                <a:solidFill>
                  <a:srgbClr val="581C87"/>
                </a:solidFill>
                <a:latin typeface="NotoSans-Bold" pitchFamily="34" charset="0"/>
                <a:ea typeface="NotoSans-Bold" pitchFamily="34" charset="-122"/>
                <a:cs typeface="NotoSans-Bold" pitchFamily="34" charset="-120"/>
              </a:rPr>
              <a:t>— Luke 19:10</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266319"/>
          </a:xfrm>
          <a:prstGeom prst="rect">
            <a:avLst/>
          </a:prstGeom>
          <a:solidFill>
            <a:srgbClr val="FFFBEB"/>
          </a:solidFill>
          <a:ln/>
        </p:spPr>
      </p:sp>
      <p:sp>
        <p:nvSpPr>
          <p:cNvPr id="3" name="Shape 1"/>
          <p:cNvSpPr/>
          <p:nvPr/>
        </p:nvSpPr>
        <p:spPr>
          <a:xfrm>
            <a:off x="0" y="257175"/>
            <a:ext cx="9144000" cy="266319"/>
          </a:xfrm>
          <a:prstGeom prst="rect">
            <a:avLst/>
          </a:prstGeom>
          <a:solidFill>
            <a:srgbClr val="FFFBEB"/>
          </a:solidFill>
          <a:ln/>
        </p:spPr>
      </p:sp>
      <p:sp>
        <p:nvSpPr>
          <p:cNvPr id="4" name="Shape 2"/>
          <p:cNvSpPr/>
          <p:nvPr/>
        </p:nvSpPr>
        <p:spPr>
          <a:xfrm>
            <a:off x="0" y="514350"/>
            <a:ext cx="9144000" cy="266319"/>
          </a:xfrm>
          <a:prstGeom prst="rect">
            <a:avLst/>
          </a:prstGeom>
          <a:solidFill>
            <a:srgbClr val="FFFBEB"/>
          </a:solidFill>
          <a:ln/>
        </p:spPr>
      </p:sp>
      <p:sp>
        <p:nvSpPr>
          <p:cNvPr id="5" name="Shape 3"/>
          <p:cNvSpPr/>
          <p:nvPr/>
        </p:nvSpPr>
        <p:spPr>
          <a:xfrm>
            <a:off x="0" y="771525"/>
            <a:ext cx="9144000" cy="266319"/>
          </a:xfrm>
          <a:prstGeom prst="rect">
            <a:avLst/>
          </a:prstGeom>
          <a:solidFill>
            <a:srgbClr val="FFFAEB"/>
          </a:solidFill>
          <a:ln/>
        </p:spPr>
      </p:sp>
      <p:sp>
        <p:nvSpPr>
          <p:cNvPr id="6" name="Shape 4"/>
          <p:cNvSpPr/>
          <p:nvPr/>
        </p:nvSpPr>
        <p:spPr>
          <a:xfrm>
            <a:off x="0" y="1028700"/>
            <a:ext cx="9144000" cy="266319"/>
          </a:xfrm>
          <a:prstGeom prst="rect">
            <a:avLst/>
          </a:prstGeom>
          <a:solidFill>
            <a:srgbClr val="FFFAEB"/>
          </a:solidFill>
          <a:ln/>
        </p:spPr>
      </p:sp>
      <p:sp>
        <p:nvSpPr>
          <p:cNvPr id="7" name="Shape 5"/>
          <p:cNvSpPr/>
          <p:nvPr/>
        </p:nvSpPr>
        <p:spPr>
          <a:xfrm>
            <a:off x="0" y="1285875"/>
            <a:ext cx="9144000" cy="266319"/>
          </a:xfrm>
          <a:prstGeom prst="rect">
            <a:avLst/>
          </a:prstGeom>
          <a:solidFill>
            <a:srgbClr val="FFFAEC"/>
          </a:solidFill>
          <a:ln/>
        </p:spPr>
      </p:sp>
      <p:sp>
        <p:nvSpPr>
          <p:cNvPr id="8" name="Shape 6"/>
          <p:cNvSpPr/>
          <p:nvPr/>
        </p:nvSpPr>
        <p:spPr>
          <a:xfrm>
            <a:off x="0" y="1543050"/>
            <a:ext cx="9144000" cy="266319"/>
          </a:xfrm>
          <a:prstGeom prst="rect">
            <a:avLst/>
          </a:prstGeom>
          <a:solidFill>
            <a:srgbClr val="FFFAEC"/>
          </a:solidFill>
          <a:ln/>
        </p:spPr>
      </p:sp>
      <p:sp>
        <p:nvSpPr>
          <p:cNvPr id="9" name="Shape 7"/>
          <p:cNvSpPr/>
          <p:nvPr/>
        </p:nvSpPr>
        <p:spPr>
          <a:xfrm>
            <a:off x="0" y="1800225"/>
            <a:ext cx="9144000" cy="266319"/>
          </a:xfrm>
          <a:prstGeom prst="rect">
            <a:avLst/>
          </a:prstGeom>
          <a:solidFill>
            <a:srgbClr val="FFFAEC"/>
          </a:solidFill>
          <a:ln/>
        </p:spPr>
      </p:sp>
      <p:sp>
        <p:nvSpPr>
          <p:cNvPr id="10" name="Shape 8"/>
          <p:cNvSpPr/>
          <p:nvPr/>
        </p:nvSpPr>
        <p:spPr>
          <a:xfrm>
            <a:off x="0" y="2057400"/>
            <a:ext cx="9144000" cy="266319"/>
          </a:xfrm>
          <a:prstGeom prst="rect">
            <a:avLst/>
          </a:prstGeom>
          <a:solidFill>
            <a:srgbClr val="FFF9EC"/>
          </a:solidFill>
          <a:ln/>
        </p:spPr>
      </p:sp>
      <p:sp>
        <p:nvSpPr>
          <p:cNvPr id="11" name="Shape 9"/>
          <p:cNvSpPr/>
          <p:nvPr/>
        </p:nvSpPr>
        <p:spPr>
          <a:xfrm>
            <a:off x="0" y="2314575"/>
            <a:ext cx="9144000" cy="266319"/>
          </a:xfrm>
          <a:prstGeom prst="rect">
            <a:avLst/>
          </a:prstGeom>
          <a:solidFill>
            <a:srgbClr val="FFF9EC"/>
          </a:solidFill>
          <a:ln/>
        </p:spPr>
      </p:sp>
      <p:sp>
        <p:nvSpPr>
          <p:cNvPr id="12" name="Shape 10"/>
          <p:cNvSpPr/>
          <p:nvPr/>
        </p:nvSpPr>
        <p:spPr>
          <a:xfrm>
            <a:off x="0" y="2571750"/>
            <a:ext cx="9144000" cy="266319"/>
          </a:xfrm>
          <a:prstGeom prst="rect">
            <a:avLst/>
          </a:prstGeom>
          <a:solidFill>
            <a:srgbClr val="FFF9EC"/>
          </a:solidFill>
          <a:ln/>
        </p:spPr>
      </p:sp>
      <p:sp>
        <p:nvSpPr>
          <p:cNvPr id="13" name="Shape 11"/>
          <p:cNvSpPr/>
          <p:nvPr/>
        </p:nvSpPr>
        <p:spPr>
          <a:xfrm>
            <a:off x="0" y="2828925"/>
            <a:ext cx="9144000" cy="266319"/>
          </a:xfrm>
          <a:prstGeom prst="rect">
            <a:avLst/>
          </a:prstGeom>
          <a:solidFill>
            <a:srgbClr val="FFF9EC"/>
          </a:solidFill>
          <a:ln/>
        </p:spPr>
      </p:sp>
      <p:sp>
        <p:nvSpPr>
          <p:cNvPr id="14" name="Shape 12"/>
          <p:cNvSpPr/>
          <p:nvPr/>
        </p:nvSpPr>
        <p:spPr>
          <a:xfrm>
            <a:off x="0" y="3086100"/>
            <a:ext cx="9144000" cy="266319"/>
          </a:xfrm>
          <a:prstGeom prst="rect">
            <a:avLst/>
          </a:prstGeom>
          <a:solidFill>
            <a:srgbClr val="FFF8EC"/>
          </a:solidFill>
          <a:ln/>
        </p:spPr>
      </p:sp>
      <p:sp>
        <p:nvSpPr>
          <p:cNvPr id="15" name="Shape 13"/>
          <p:cNvSpPr/>
          <p:nvPr/>
        </p:nvSpPr>
        <p:spPr>
          <a:xfrm>
            <a:off x="0" y="3343275"/>
            <a:ext cx="9144000" cy="266319"/>
          </a:xfrm>
          <a:prstGeom prst="rect">
            <a:avLst/>
          </a:prstGeom>
          <a:solidFill>
            <a:srgbClr val="FFF8EC"/>
          </a:solidFill>
          <a:ln/>
        </p:spPr>
      </p:sp>
      <p:sp>
        <p:nvSpPr>
          <p:cNvPr id="16" name="Shape 14"/>
          <p:cNvSpPr/>
          <p:nvPr/>
        </p:nvSpPr>
        <p:spPr>
          <a:xfrm>
            <a:off x="0" y="3600450"/>
            <a:ext cx="9144000" cy="266319"/>
          </a:xfrm>
          <a:prstGeom prst="rect">
            <a:avLst/>
          </a:prstGeom>
          <a:solidFill>
            <a:srgbClr val="FFF8EC"/>
          </a:solidFill>
          <a:ln/>
        </p:spPr>
      </p:sp>
      <p:sp>
        <p:nvSpPr>
          <p:cNvPr id="17" name="Shape 15"/>
          <p:cNvSpPr/>
          <p:nvPr/>
        </p:nvSpPr>
        <p:spPr>
          <a:xfrm>
            <a:off x="0" y="3857625"/>
            <a:ext cx="9144000" cy="266319"/>
          </a:xfrm>
          <a:prstGeom prst="rect">
            <a:avLst/>
          </a:prstGeom>
          <a:solidFill>
            <a:srgbClr val="FFF8ED"/>
          </a:solidFill>
          <a:ln/>
        </p:spPr>
      </p:sp>
      <p:sp>
        <p:nvSpPr>
          <p:cNvPr id="18" name="Shape 16"/>
          <p:cNvSpPr/>
          <p:nvPr/>
        </p:nvSpPr>
        <p:spPr>
          <a:xfrm>
            <a:off x="0" y="4114800"/>
            <a:ext cx="9144000" cy="266319"/>
          </a:xfrm>
          <a:prstGeom prst="rect">
            <a:avLst/>
          </a:prstGeom>
          <a:solidFill>
            <a:srgbClr val="FFF8ED"/>
          </a:solidFill>
          <a:ln/>
        </p:spPr>
      </p:sp>
      <p:sp>
        <p:nvSpPr>
          <p:cNvPr id="19" name="Shape 17"/>
          <p:cNvSpPr/>
          <p:nvPr/>
        </p:nvSpPr>
        <p:spPr>
          <a:xfrm>
            <a:off x="0" y="4371975"/>
            <a:ext cx="9144000" cy="266319"/>
          </a:xfrm>
          <a:prstGeom prst="rect">
            <a:avLst/>
          </a:prstGeom>
          <a:solidFill>
            <a:srgbClr val="FFF7ED"/>
          </a:solidFill>
          <a:ln/>
        </p:spPr>
      </p:sp>
      <p:sp>
        <p:nvSpPr>
          <p:cNvPr id="20" name="Shape 18"/>
          <p:cNvSpPr/>
          <p:nvPr/>
        </p:nvSpPr>
        <p:spPr>
          <a:xfrm>
            <a:off x="0" y="4629150"/>
            <a:ext cx="9144000" cy="266319"/>
          </a:xfrm>
          <a:prstGeom prst="rect">
            <a:avLst/>
          </a:prstGeom>
          <a:solidFill>
            <a:srgbClr val="FFF7ED"/>
          </a:solidFill>
          <a:ln/>
        </p:spPr>
      </p:sp>
      <p:sp>
        <p:nvSpPr>
          <p:cNvPr id="21" name="Shape 19"/>
          <p:cNvSpPr/>
          <p:nvPr/>
        </p:nvSpPr>
        <p:spPr>
          <a:xfrm>
            <a:off x="0" y="4886325"/>
            <a:ext cx="9144000" cy="266319"/>
          </a:xfrm>
          <a:prstGeom prst="rect">
            <a:avLst/>
          </a:prstGeom>
          <a:solidFill>
            <a:srgbClr val="FFF7ED"/>
          </a:solidFill>
          <a:ln/>
        </p:spPr>
      </p:sp>
      <p:sp>
        <p:nvSpPr>
          <p:cNvPr id="22" name="Shape 20"/>
          <p:cNvSpPr/>
          <p:nvPr/>
        </p:nvSpPr>
        <p:spPr>
          <a:xfrm>
            <a:off x="0" y="0"/>
            <a:ext cx="137160" cy="5143500"/>
          </a:xfrm>
          <a:prstGeom prst="rect">
            <a:avLst/>
          </a:prstGeom>
          <a:solidFill>
            <a:srgbClr val="D97706"/>
          </a:solidFill>
          <a:ln/>
        </p:spPr>
      </p:sp>
      <p:sp>
        <p:nvSpPr>
          <p:cNvPr id="23" name="Shape 21"/>
          <p:cNvSpPr/>
          <p:nvPr/>
        </p:nvSpPr>
        <p:spPr>
          <a:xfrm>
            <a:off x="0" y="0"/>
            <a:ext cx="9144000" cy="77152"/>
          </a:xfrm>
          <a:prstGeom prst="rect">
            <a:avLst/>
          </a:prstGeom>
          <a:solidFill>
            <a:srgbClr val="FBBF24"/>
          </a:solidFill>
          <a:ln/>
        </p:spPr>
      </p:sp>
      <p:sp>
        <p:nvSpPr>
          <p:cNvPr id="24" name="Text 22"/>
          <p:cNvSpPr/>
          <p:nvPr/>
        </p:nvSpPr>
        <p:spPr>
          <a:xfrm>
            <a:off x="457200" y="257175"/>
            <a:ext cx="8229600" cy="617220"/>
          </a:xfrm>
          <a:prstGeom prst="rect">
            <a:avLst/>
          </a:prstGeom>
          <a:noFill/>
          <a:ln/>
        </p:spPr>
        <p:txBody>
          <a:bodyPr wrap="square" rtlCol="0" anchor="t"/>
          <a:lstStyle/>
          <a:p>
            <a:pPr algn="l" indent="0" marL="0">
              <a:buNone/>
            </a:pPr>
            <a:r>
              <a:rPr lang="en-US" sz="2700" b="1" dirty="0">
                <a:solidFill>
                  <a:srgbClr val="111827"/>
                </a:solidFill>
                <a:latin typeface="Poppins" pitchFamily="34" charset="0"/>
                <a:ea typeface="Poppins" pitchFamily="34" charset="-122"/>
                <a:cs typeface="Poppins" pitchFamily="34" charset="-120"/>
              </a:rPr>
              <a:t>Walking Through the Open Door</a:t>
            </a:r>
            <a:endParaRPr lang="en-US" sz="2700" dirty="0"/>
          </a:p>
        </p:txBody>
      </p:sp>
      <p:sp>
        <p:nvSpPr>
          <p:cNvPr id="25" name="Shape 23"/>
          <p:cNvSpPr/>
          <p:nvPr/>
        </p:nvSpPr>
        <p:spPr>
          <a:xfrm>
            <a:off x="457200" y="874395"/>
            <a:ext cx="1097280" cy="51435"/>
          </a:xfrm>
          <a:prstGeom prst="rect">
            <a:avLst/>
          </a:prstGeom>
          <a:solidFill>
            <a:srgbClr val="FBBF24"/>
          </a:solidFill>
          <a:ln/>
        </p:spPr>
      </p:sp>
      <p:sp>
        <p:nvSpPr>
          <p:cNvPr id="26" name="Shape 24"/>
          <p:cNvSpPr/>
          <p:nvPr/>
        </p:nvSpPr>
        <p:spPr>
          <a:xfrm>
            <a:off x="548640" y="1234440"/>
            <a:ext cx="2499360" cy="2983230"/>
          </a:xfrm>
          <a:prstGeom prst="rect">
            <a:avLst/>
          </a:prstGeom>
          <a:solidFill>
            <a:srgbClr val="FFFFFF"/>
          </a:solidFill>
          <a:ln/>
          <a:effectLst>
            <a:outerShdw sx="100000" sy="100000" kx="0" ky="0" algn="bl" rotWithShape="0" blurRad="50800" dist="25400" dir="2700000">
              <a:srgbClr val="000000">
                <a:alpha val="15000"/>
              </a:srgbClr>
            </a:outerShdw>
          </a:effectLst>
        </p:spPr>
      </p:sp>
      <p:sp>
        <p:nvSpPr>
          <p:cNvPr id="27" name="Shape 25"/>
          <p:cNvSpPr/>
          <p:nvPr/>
        </p:nvSpPr>
        <p:spPr>
          <a:xfrm>
            <a:off x="1524000" y="1491615"/>
            <a:ext cx="548640" cy="514350"/>
          </a:xfrm>
          <a:prstGeom prst="ellipse">
            <a:avLst/>
          </a:prstGeom>
          <a:solidFill>
            <a:srgbClr val="D97706"/>
          </a:solidFill>
          <a:ln/>
        </p:spPr>
      </p:sp>
      <p:sp>
        <p:nvSpPr>
          <p:cNvPr id="28" name="Text 26"/>
          <p:cNvSpPr/>
          <p:nvPr/>
        </p:nvSpPr>
        <p:spPr>
          <a:xfrm>
            <a:off x="1524000" y="1491615"/>
            <a:ext cx="548640" cy="514350"/>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1</a:t>
            </a:r>
            <a:endParaRPr lang="en-US" sz="1500" dirty="0"/>
          </a:p>
        </p:txBody>
      </p:sp>
      <p:sp>
        <p:nvSpPr>
          <p:cNvPr id="29" name="Text 27"/>
          <p:cNvSpPr/>
          <p:nvPr/>
        </p:nvSpPr>
        <p:spPr>
          <a:xfrm>
            <a:off x="731520" y="2263140"/>
            <a:ext cx="2133600" cy="514350"/>
          </a:xfrm>
          <a:prstGeom prst="rect">
            <a:avLst/>
          </a:prstGeom>
          <a:noFill/>
          <a:ln/>
        </p:spPr>
        <p:txBody>
          <a:bodyPr wrap="square" rtlCol="0" anchor="t"/>
          <a:lstStyle/>
          <a:p>
            <a:pPr algn="ctr" indent="0" marL="0">
              <a:buNone/>
            </a:pPr>
            <a:r>
              <a:rPr lang="en-US" sz="1700" b="1" dirty="0">
                <a:solidFill>
                  <a:srgbClr val="D97706"/>
                </a:solidFill>
                <a:latin typeface="Poppins" pitchFamily="34" charset="0"/>
                <a:ea typeface="Poppins" pitchFamily="34" charset="-122"/>
                <a:cs typeface="Poppins" pitchFamily="34" charset="-120"/>
              </a:rPr>
              <a:t>Believe</a:t>
            </a:r>
            <a:endParaRPr lang="en-US" sz="1700" dirty="0"/>
          </a:p>
        </p:txBody>
      </p:sp>
      <p:sp>
        <p:nvSpPr>
          <p:cNvPr id="30" name="Text 28"/>
          <p:cNvSpPr/>
          <p:nvPr/>
        </p:nvSpPr>
        <p:spPr>
          <a:xfrm>
            <a:off x="731520" y="2880360"/>
            <a:ext cx="2133600" cy="1234440"/>
          </a:xfrm>
          <a:prstGeom prst="rect">
            <a:avLst/>
          </a:prstGeom>
          <a:noFill/>
          <a:ln/>
        </p:spPr>
        <p:txBody>
          <a:bodyPr wrap="square" rtlCol="0" anchor="t"/>
          <a:lstStyle/>
          <a:p>
            <a:pPr algn="ctr" indent="0" marL="0">
              <a:buNone/>
            </a:pPr>
            <a:r>
              <a:rPr lang="en-US" sz="1200" dirty="0">
                <a:solidFill>
                  <a:srgbClr val="111827"/>
                </a:solidFill>
                <a:latin typeface="Poppins" pitchFamily="34" charset="0"/>
                <a:ea typeface="Poppins" pitchFamily="34" charset="-122"/>
                <a:cs typeface="Poppins" pitchFamily="34" charset="-120"/>
              </a:rPr>
              <a:t>Trust that Christ has fully opened the way to God's presence for you</a:t>
            </a:r>
            <a:endParaRPr lang="en-US" sz="1200" dirty="0"/>
          </a:p>
        </p:txBody>
      </p:sp>
      <p:sp>
        <p:nvSpPr>
          <p:cNvPr id="31" name="Shape 29"/>
          <p:cNvSpPr/>
          <p:nvPr/>
        </p:nvSpPr>
        <p:spPr>
          <a:xfrm>
            <a:off x="3322320" y="1234440"/>
            <a:ext cx="2499360" cy="2983230"/>
          </a:xfrm>
          <a:prstGeom prst="rect">
            <a:avLst/>
          </a:prstGeom>
          <a:solidFill>
            <a:srgbClr val="FFFFFF"/>
          </a:solidFill>
          <a:ln/>
          <a:effectLst>
            <a:outerShdw sx="100000" sy="100000" kx="0" ky="0" algn="bl" rotWithShape="0" blurRad="50800" dist="25400" dir="2700000">
              <a:srgbClr val="000000">
                <a:alpha val="15000"/>
              </a:srgbClr>
            </a:outerShdw>
          </a:effectLst>
        </p:spPr>
      </p:sp>
      <p:sp>
        <p:nvSpPr>
          <p:cNvPr id="32" name="Shape 30"/>
          <p:cNvSpPr/>
          <p:nvPr/>
        </p:nvSpPr>
        <p:spPr>
          <a:xfrm>
            <a:off x="4297680" y="1491615"/>
            <a:ext cx="548640" cy="514350"/>
          </a:xfrm>
          <a:prstGeom prst="ellipse">
            <a:avLst/>
          </a:prstGeom>
          <a:solidFill>
            <a:srgbClr val="D97706"/>
          </a:solidFill>
          <a:ln/>
        </p:spPr>
      </p:sp>
      <p:sp>
        <p:nvSpPr>
          <p:cNvPr id="33" name="Text 31"/>
          <p:cNvSpPr/>
          <p:nvPr/>
        </p:nvSpPr>
        <p:spPr>
          <a:xfrm>
            <a:off x="4297680" y="1491615"/>
            <a:ext cx="548640" cy="514350"/>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2</a:t>
            </a:r>
            <a:endParaRPr lang="en-US" sz="1500" dirty="0"/>
          </a:p>
        </p:txBody>
      </p:sp>
      <p:sp>
        <p:nvSpPr>
          <p:cNvPr id="34" name="Text 32"/>
          <p:cNvSpPr/>
          <p:nvPr/>
        </p:nvSpPr>
        <p:spPr>
          <a:xfrm>
            <a:off x="3505200" y="2263140"/>
            <a:ext cx="2133600" cy="514350"/>
          </a:xfrm>
          <a:prstGeom prst="rect">
            <a:avLst/>
          </a:prstGeom>
          <a:noFill/>
          <a:ln/>
        </p:spPr>
        <p:txBody>
          <a:bodyPr wrap="square" rtlCol="0" anchor="t"/>
          <a:lstStyle/>
          <a:p>
            <a:pPr algn="ctr" indent="0" marL="0">
              <a:buNone/>
            </a:pPr>
            <a:r>
              <a:rPr lang="en-US" sz="1700" b="1" dirty="0">
                <a:solidFill>
                  <a:srgbClr val="D97706"/>
                </a:solidFill>
                <a:latin typeface="Poppins" pitchFamily="34" charset="0"/>
                <a:ea typeface="Poppins" pitchFamily="34" charset="-122"/>
                <a:cs typeface="Poppins" pitchFamily="34" charset="-120"/>
              </a:rPr>
              <a:t>Draw Near</a:t>
            </a:r>
            <a:endParaRPr lang="en-US" sz="1700" dirty="0"/>
          </a:p>
        </p:txBody>
      </p:sp>
      <p:sp>
        <p:nvSpPr>
          <p:cNvPr id="35" name="Text 33"/>
          <p:cNvSpPr/>
          <p:nvPr/>
        </p:nvSpPr>
        <p:spPr>
          <a:xfrm>
            <a:off x="3505200" y="2880360"/>
            <a:ext cx="2133600" cy="1234440"/>
          </a:xfrm>
          <a:prstGeom prst="rect">
            <a:avLst/>
          </a:prstGeom>
          <a:noFill/>
          <a:ln/>
        </p:spPr>
        <p:txBody>
          <a:bodyPr wrap="square" rtlCol="0" anchor="t"/>
          <a:lstStyle/>
          <a:p>
            <a:pPr algn="ctr" indent="0" marL="0">
              <a:buNone/>
            </a:pPr>
            <a:r>
              <a:rPr lang="en-US" sz="1200" dirty="0">
                <a:solidFill>
                  <a:srgbClr val="111827"/>
                </a:solidFill>
                <a:latin typeface="Poppins" pitchFamily="34" charset="0"/>
                <a:ea typeface="Poppins" pitchFamily="34" charset="-122"/>
                <a:cs typeface="Poppins" pitchFamily="34" charset="-120"/>
              </a:rPr>
              <a:t>Approach God boldly and often in prayer, without fear or shame</a:t>
            </a:r>
            <a:endParaRPr lang="en-US" sz="1200" dirty="0"/>
          </a:p>
        </p:txBody>
      </p:sp>
      <p:sp>
        <p:nvSpPr>
          <p:cNvPr id="36" name="Shape 34"/>
          <p:cNvSpPr/>
          <p:nvPr/>
        </p:nvSpPr>
        <p:spPr>
          <a:xfrm>
            <a:off x="6096000" y="1234440"/>
            <a:ext cx="2499360" cy="2983230"/>
          </a:xfrm>
          <a:prstGeom prst="rect">
            <a:avLst/>
          </a:prstGeom>
          <a:solidFill>
            <a:srgbClr val="FFFFFF"/>
          </a:solidFill>
          <a:ln/>
          <a:effectLst>
            <a:outerShdw sx="100000" sy="100000" kx="0" ky="0" algn="bl" rotWithShape="0" blurRad="50800" dist="25400" dir="2700000">
              <a:srgbClr val="000000">
                <a:alpha val="15000"/>
              </a:srgbClr>
            </a:outerShdw>
          </a:effectLst>
        </p:spPr>
      </p:sp>
      <p:sp>
        <p:nvSpPr>
          <p:cNvPr id="37" name="Shape 35"/>
          <p:cNvSpPr/>
          <p:nvPr/>
        </p:nvSpPr>
        <p:spPr>
          <a:xfrm>
            <a:off x="7071360" y="1491615"/>
            <a:ext cx="548640" cy="514350"/>
          </a:xfrm>
          <a:prstGeom prst="ellipse">
            <a:avLst/>
          </a:prstGeom>
          <a:solidFill>
            <a:srgbClr val="D97706"/>
          </a:solidFill>
          <a:ln/>
        </p:spPr>
      </p:sp>
      <p:sp>
        <p:nvSpPr>
          <p:cNvPr id="38" name="Text 36"/>
          <p:cNvSpPr/>
          <p:nvPr/>
        </p:nvSpPr>
        <p:spPr>
          <a:xfrm>
            <a:off x="7071360" y="1491615"/>
            <a:ext cx="548640" cy="514350"/>
          </a:xfrm>
          <a:prstGeom prst="rect">
            <a:avLst/>
          </a:prstGeom>
          <a:noFill/>
          <a:ln/>
        </p:spPr>
        <p:txBody>
          <a:bodyPr wrap="square" rtlCol="0" anchor="ctr"/>
          <a:lstStyle/>
          <a:p>
            <a:pPr algn="ctr" indent="0" marL="0">
              <a:buNone/>
            </a:pPr>
            <a:r>
              <a:rPr lang="en-US" sz="1500" b="1" dirty="0">
                <a:solidFill>
                  <a:srgbClr val="FFFFFF"/>
                </a:solidFill>
                <a:latin typeface="Poppins" pitchFamily="34" charset="0"/>
                <a:ea typeface="Poppins" pitchFamily="34" charset="-122"/>
                <a:cs typeface="Poppins" pitchFamily="34" charset="-120"/>
              </a:rPr>
              <a:t>3</a:t>
            </a:r>
            <a:endParaRPr lang="en-US" sz="1500" dirty="0"/>
          </a:p>
        </p:txBody>
      </p:sp>
      <p:sp>
        <p:nvSpPr>
          <p:cNvPr id="39" name="Text 37"/>
          <p:cNvSpPr/>
          <p:nvPr/>
        </p:nvSpPr>
        <p:spPr>
          <a:xfrm>
            <a:off x="6278880" y="2263140"/>
            <a:ext cx="2133600" cy="514350"/>
          </a:xfrm>
          <a:prstGeom prst="rect">
            <a:avLst/>
          </a:prstGeom>
          <a:noFill/>
          <a:ln/>
        </p:spPr>
        <p:txBody>
          <a:bodyPr wrap="square" rtlCol="0" anchor="t"/>
          <a:lstStyle/>
          <a:p>
            <a:pPr algn="ctr" indent="0" marL="0">
              <a:buNone/>
            </a:pPr>
            <a:r>
              <a:rPr lang="en-US" sz="1700" b="1" dirty="0">
                <a:solidFill>
                  <a:srgbClr val="D97706"/>
                </a:solidFill>
                <a:latin typeface="Poppins" pitchFamily="34" charset="0"/>
                <a:ea typeface="Poppins" pitchFamily="34" charset="-122"/>
                <a:cs typeface="Poppins" pitchFamily="34" charset="-120"/>
              </a:rPr>
              <a:t>Share</a:t>
            </a:r>
            <a:endParaRPr lang="en-US" sz="1700" dirty="0"/>
          </a:p>
        </p:txBody>
      </p:sp>
      <p:sp>
        <p:nvSpPr>
          <p:cNvPr id="40" name="Text 38"/>
          <p:cNvSpPr/>
          <p:nvPr/>
        </p:nvSpPr>
        <p:spPr>
          <a:xfrm>
            <a:off x="6278880" y="2880360"/>
            <a:ext cx="2133600" cy="1234440"/>
          </a:xfrm>
          <a:prstGeom prst="rect">
            <a:avLst/>
          </a:prstGeom>
          <a:noFill/>
          <a:ln/>
        </p:spPr>
        <p:txBody>
          <a:bodyPr wrap="square" rtlCol="0" anchor="t"/>
          <a:lstStyle/>
          <a:p>
            <a:pPr algn="ctr" indent="0" marL="0">
              <a:buNone/>
            </a:pPr>
            <a:r>
              <a:rPr lang="en-US" sz="1200" dirty="0">
                <a:solidFill>
                  <a:srgbClr val="111827"/>
                </a:solidFill>
                <a:latin typeface="Poppins" pitchFamily="34" charset="0"/>
                <a:ea typeface="Poppins" pitchFamily="34" charset="-122"/>
                <a:cs typeface="Poppins" pitchFamily="34" charset="-120"/>
              </a:rPr>
              <a:t>Tell someone that the way to God is open through Jesus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312E81">
              <a:alpha val="65000"/>
            </a:srgbClr>
          </a:solidFill>
          <a:ln/>
        </p:spPr>
      </p:sp>
      <p:sp>
        <p:nvSpPr>
          <p:cNvPr id="4" name="Shape 1"/>
          <p:cNvSpPr/>
          <p:nvPr/>
        </p:nvSpPr>
        <p:spPr>
          <a:xfrm>
            <a:off x="0" y="0"/>
            <a:ext cx="9144000" cy="92583"/>
          </a:xfrm>
          <a:prstGeom prst="rect">
            <a:avLst/>
          </a:prstGeom>
          <a:solidFill>
            <a:srgbClr val="FBBF24"/>
          </a:solidFill>
          <a:ln/>
        </p:spPr>
      </p:sp>
      <p:sp>
        <p:nvSpPr>
          <p:cNvPr id="5" name="Shape 2"/>
          <p:cNvSpPr/>
          <p:nvPr/>
        </p:nvSpPr>
        <p:spPr>
          <a:xfrm>
            <a:off x="0" y="92583"/>
            <a:ext cx="109728" cy="1212723"/>
          </a:xfrm>
          <a:prstGeom prst="rect">
            <a:avLst/>
          </a:prstGeom>
          <a:solidFill>
            <a:srgbClr val="FBBF24"/>
          </a:solidFill>
          <a:ln/>
        </p:spPr>
      </p:sp>
      <p:sp>
        <p:nvSpPr>
          <p:cNvPr id="6" name="Text 3"/>
          <p:cNvSpPr/>
          <p:nvPr/>
        </p:nvSpPr>
        <p:spPr>
          <a:xfrm>
            <a:off x="548640" y="462915"/>
            <a:ext cx="8046720" cy="739521"/>
          </a:xfrm>
          <a:prstGeom prst="rect">
            <a:avLst/>
          </a:prstGeom>
          <a:noFill/>
          <a:ln/>
        </p:spPr>
        <p:txBody>
          <a:bodyPr wrap="square" rtlCol="0" anchor="t"/>
          <a:lstStyle/>
          <a:p>
            <a:pPr algn="l" indent="0" marL="0">
              <a:buNone/>
            </a:pPr>
            <a:r>
              <a:rPr lang="en-US" sz="3200" b="1" dirty="0">
                <a:solidFill>
                  <a:srgbClr val="FFFFFF"/>
                </a:solidFill>
                <a:latin typeface="Poppins" pitchFamily="34" charset="0"/>
                <a:ea typeface="Poppins" pitchFamily="34" charset="-122"/>
                <a:cs typeface="Poppins" pitchFamily="34" charset="-120"/>
              </a:rPr>
              <a:t>He Is Lovesick for You</a:t>
            </a:r>
            <a:endParaRPr lang="en-US" sz="3200" dirty="0"/>
          </a:p>
        </p:txBody>
      </p:sp>
      <p:sp>
        <p:nvSpPr>
          <p:cNvPr id="7" name="Shape 4"/>
          <p:cNvSpPr/>
          <p:nvPr/>
        </p:nvSpPr>
        <p:spPr>
          <a:xfrm>
            <a:off x="548640" y="1305306"/>
            <a:ext cx="1097280" cy="51435"/>
          </a:xfrm>
          <a:prstGeom prst="rect">
            <a:avLst/>
          </a:prstGeom>
          <a:solidFill>
            <a:srgbClr val="FBBF24"/>
          </a:solidFill>
          <a:ln/>
        </p:spPr>
      </p:sp>
      <p:sp>
        <p:nvSpPr>
          <p:cNvPr id="8" name="Text 5"/>
          <p:cNvSpPr/>
          <p:nvPr/>
        </p:nvSpPr>
        <p:spPr>
          <a:xfrm>
            <a:off x="548640" y="1521333"/>
            <a:ext cx="8046720" cy="3107817"/>
          </a:xfrm>
          <a:prstGeom prst="rect">
            <a:avLst/>
          </a:prstGeom>
          <a:noFill/>
          <a:ln/>
        </p:spPr>
        <p:txBody>
          <a:bodyPr wrap="square" rtlCol="0" anchor="t"/>
          <a:lstStyle/>
          <a:p>
            <a:pPr indent="0" marL="0">
              <a:lnSpc>
                <a:spcPts val="2200"/>
              </a:lnSpc>
              <a:buNone/>
            </a:pPr>
            <a:r>
              <a:rPr lang="en-US" sz="1700" dirty="0">
                <a:solidFill>
                  <a:srgbClr val="FBBF24"/>
                </a:solidFill>
                <a:latin typeface="Poppins" pitchFamily="34" charset="0"/>
                <a:ea typeface="Poppins" pitchFamily="34" charset="-122"/>
                <a:cs typeface="Poppins" pitchFamily="34" charset="-120"/>
              </a:rPr>
              <a:t>●  </a:t>
            </a:r>
            <a:pPr indent="0" marL="0">
              <a:lnSpc>
                <a:spcPts val="2200"/>
              </a:lnSpc>
              <a:buNone/>
            </a:pPr>
            <a:r>
              <a:rPr lang="en-US" sz="1700" dirty="0">
                <a:solidFill>
                  <a:srgbClr val="FFFFFF"/>
                </a:solidFill>
                <a:latin typeface="Poppins" pitchFamily="34" charset="0"/>
                <a:ea typeface="Poppins" pitchFamily="34" charset="-122"/>
                <a:cs typeface="Poppins" pitchFamily="34" charset="-120"/>
              </a:rPr>
              <a:t>The Father has already torn down every barrier between you and Him
</a:t>
            </a:r>
            <a:endParaRPr lang="en-US" sz="1700" dirty="0"/>
          </a:p>
          <a:p>
            <a:pPr indent="0" marL="0">
              <a:lnSpc>
                <a:spcPts val="2200"/>
              </a:lnSpc>
              <a:buNone/>
            </a:pPr>
            <a:r>
              <a:rPr lang="en-US" sz="1700" dirty="0">
                <a:solidFill>
                  <a:srgbClr val="FBBF24"/>
                </a:solidFill>
                <a:latin typeface="Poppins" pitchFamily="34" charset="0"/>
                <a:ea typeface="Poppins" pitchFamily="34" charset="-122"/>
                <a:cs typeface="Poppins" pitchFamily="34" charset="-120"/>
              </a:rPr>
              <a:t>●  </a:t>
            </a:r>
            <a:pPr indent="0" marL="0">
              <a:lnSpc>
                <a:spcPts val="2200"/>
              </a:lnSpc>
              <a:buNone/>
            </a:pPr>
            <a:r>
              <a:rPr lang="en-US" sz="1700" dirty="0">
                <a:solidFill>
                  <a:srgbClr val="FFFFFF"/>
                </a:solidFill>
                <a:latin typeface="Poppins" pitchFamily="34" charset="0"/>
                <a:ea typeface="Poppins" pitchFamily="34" charset="-122"/>
                <a:cs typeface="Poppins" pitchFamily="34" charset="-120"/>
              </a:rPr>
              <a:t>The veil is torn, the door is open, the way is clear
</a:t>
            </a:r>
            <a:endParaRPr lang="en-US" sz="1700" dirty="0"/>
          </a:p>
          <a:p>
            <a:pPr indent="0" marL="0">
              <a:lnSpc>
                <a:spcPts val="2200"/>
              </a:lnSpc>
              <a:buNone/>
            </a:pPr>
            <a:r>
              <a:rPr lang="en-US" sz="1700" dirty="0">
                <a:solidFill>
                  <a:srgbClr val="FBBF24"/>
                </a:solidFill>
                <a:latin typeface="Poppins" pitchFamily="34" charset="0"/>
                <a:ea typeface="Poppins" pitchFamily="34" charset="-122"/>
                <a:cs typeface="Poppins" pitchFamily="34" charset="-120"/>
              </a:rPr>
              <a:t>●  </a:t>
            </a:r>
            <a:pPr indent="0" marL="0">
              <a:lnSpc>
                <a:spcPts val="2200"/>
              </a:lnSpc>
              <a:buNone/>
            </a:pPr>
            <a:r>
              <a:rPr lang="en-US" sz="1700" dirty="0">
                <a:solidFill>
                  <a:srgbClr val="FFFFFF"/>
                </a:solidFill>
                <a:latin typeface="Poppins" pitchFamily="34" charset="0"/>
                <a:ea typeface="Poppins" pitchFamily="34" charset="-122"/>
                <a:cs typeface="Poppins" pitchFamily="34" charset="-120"/>
              </a:rPr>
              <a:t>You are not too far gone, too broken, or too late
</a:t>
            </a:r>
            <a:endParaRPr lang="en-US" sz="1700" dirty="0"/>
          </a:p>
          <a:p>
            <a:pPr indent="0" marL="0">
              <a:lnSpc>
                <a:spcPts val="2200"/>
              </a:lnSpc>
              <a:buNone/>
            </a:pPr>
            <a:r>
              <a:rPr lang="en-US" sz="1700" dirty="0">
                <a:solidFill>
                  <a:srgbClr val="FBBF24"/>
                </a:solidFill>
                <a:latin typeface="Poppins" pitchFamily="34" charset="0"/>
                <a:ea typeface="Poppins" pitchFamily="34" charset="-122"/>
                <a:cs typeface="Poppins" pitchFamily="34" charset="-120"/>
              </a:rPr>
              <a:t>●  </a:t>
            </a:r>
            <a:pPr indent="0" marL="0">
              <a:lnSpc>
                <a:spcPts val="2200"/>
              </a:lnSpc>
              <a:buNone/>
            </a:pPr>
            <a:r>
              <a:rPr lang="en-US" sz="1700" dirty="0">
                <a:solidFill>
                  <a:srgbClr val="FFFFFF"/>
                </a:solidFill>
                <a:latin typeface="Poppins" pitchFamily="34" charset="0"/>
                <a:ea typeface="Poppins" pitchFamily="34" charset="-122"/>
                <a:cs typeface="Poppins" pitchFamily="34" charset="-120"/>
              </a:rPr>
              <a:t>Come home — He has been waiting for you all along
</a:t>
            </a:r>
            <a:endParaRPr lang="en-US" sz="1700" dirty="0"/>
          </a:p>
        </p:txBody>
      </p:sp>
      <p:sp>
        <p:nvSpPr>
          <p:cNvPr id="9" name="Shape 6"/>
          <p:cNvSpPr/>
          <p:nvPr/>
        </p:nvSpPr>
        <p:spPr>
          <a:xfrm>
            <a:off x="0" y="5050917"/>
            <a:ext cx="9144000" cy="92583"/>
          </a:xfrm>
          <a:prstGeom prst="rect">
            <a:avLst/>
          </a:prstGeom>
          <a:solidFill>
            <a:srgbClr val="FBBF24">
              <a:alpha val="50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Home Church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Lovesick: The Father Who Never Stopped Chasing You</dc:title>
  <dc:subject>Bible Study</dc:subject>
  <dc:creator>Ervbo</dc:creator>
  <cp:lastModifiedBy>Ervbo</cp:lastModifiedBy>
  <cp:revision>1</cp:revision>
  <dcterms:created xsi:type="dcterms:W3CDTF">2026-08-16T18:28:47Z</dcterms:created>
  <dcterms:modified xsi:type="dcterms:W3CDTF">2026-08-16T18:28:47Z</dcterms:modified>
</cp:coreProperties>
</file>